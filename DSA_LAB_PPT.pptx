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7138670"/>
          </a:xfrm>
          <a:custGeom>
            <a:avLst/>
            <a:gdLst/>
            <a:ahLst/>
            <a:cxnLst/>
            <a:rect l="l" t="t" r="r" b="b"/>
            <a:pathLst>
              <a:path w="18288000" h="7138670">
                <a:moveTo>
                  <a:pt x="9144000" y="7138219"/>
                </a:moveTo>
                <a:lnTo>
                  <a:pt x="0" y="5984589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5984589"/>
                </a:lnTo>
                <a:lnTo>
                  <a:pt x="9144000" y="7138219"/>
                </a:lnTo>
                <a:close/>
              </a:path>
            </a:pathLst>
          </a:custGeom>
          <a:solidFill>
            <a:srgbClr val="FA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04348" y="281051"/>
            <a:ext cx="11106785" cy="1427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8B775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>
            <a:pPr marL="635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 spc="10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8B775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>
            <a:pPr marL="635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 spc="10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>
            <a:pPr marL="635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 spc="10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>
            <a:pPr marL="635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 spc="10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>
            <a:pPr marL="635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 spc="10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303" y="-37465"/>
            <a:ext cx="286829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3094" y="1594632"/>
            <a:ext cx="9447530" cy="6986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8B775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064387" y="8986551"/>
            <a:ext cx="321944" cy="276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331B0D"/>
                </a:solidFill>
                <a:latin typeface="Tahoma"/>
                <a:cs typeface="Tahoma"/>
              </a:defRPr>
            </a:lvl1pPr>
          </a:lstStyle>
          <a:p>
            <a:pPr marL="635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 spc="10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bhavya-shah-07/DSA_PROJECT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52953" rIns="0" bIns="0" rtlCol="0" vert="horz">
            <a:spAutoFit/>
          </a:bodyPr>
          <a:lstStyle/>
          <a:p>
            <a:pPr marL="240029" marR="5080">
              <a:lnSpc>
                <a:spcPts val="13000"/>
              </a:lnSpc>
              <a:spcBef>
                <a:spcPts val="2740"/>
              </a:spcBef>
            </a:pPr>
            <a:r>
              <a:rPr dirty="0" sz="13050" spc="280">
                <a:solidFill>
                  <a:srgbClr val="331B0D"/>
                </a:solidFill>
              </a:rPr>
              <a:t>D</a:t>
            </a:r>
            <a:r>
              <a:rPr dirty="0" sz="13050" spc="360">
                <a:solidFill>
                  <a:srgbClr val="331B0D"/>
                </a:solidFill>
              </a:rPr>
              <a:t>S</a:t>
            </a:r>
            <a:r>
              <a:rPr dirty="0" sz="13050" spc="1015">
                <a:solidFill>
                  <a:srgbClr val="331B0D"/>
                </a:solidFill>
              </a:rPr>
              <a:t>A</a:t>
            </a:r>
            <a:r>
              <a:rPr dirty="0" sz="13050" spc="-1975">
                <a:solidFill>
                  <a:srgbClr val="331B0D"/>
                </a:solidFill>
              </a:rPr>
              <a:t> </a:t>
            </a:r>
            <a:r>
              <a:rPr dirty="0" sz="13050" spc="-30">
                <a:solidFill>
                  <a:srgbClr val="331B0D"/>
                </a:solidFill>
              </a:rPr>
              <a:t>P</a:t>
            </a:r>
            <a:r>
              <a:rPr dirty="0" sz="13050" spc="-405">
                <a:solidFill>
                  <a:srgbClr val="331B0D"/>
                </a:solidFill>
              </a:rPr>
              <a:t>r</a:t>
            </a:r>
            <a:r>
              <a:rPr dirty="0" sz="13050" spc="-20">
                <a:solidFill>
                  <a:srgbClr val="331B0D"/>
                </a:solidFill>
              </a:rPr>
              <a:t>o</a:t>
            </a:r>
            <a:r>
              <a:rPr dirty="0" sz="13050" spc="-330">
                <a:solidFill>
                  <a:srgbClr val="331B0D"/>
                </a:solidFill>
              </a:rPr>
              <a:t>j</a:t>
            </a:r>
            <a:r>
              <a:rPr dirty="0" sz="13050" spc="-5">
                <a:solidFill>
                  <a:srgbClr val="331B0D"/>
                </a:solidFill>
              </a:rPr>
              <a:t>e</a:t>
            </a:r>
            <a:r>
              <a:rPr dirty="0" sz="13050" spc="50">
                <a:solidFill>
                  <a:srgbClr val="331B0D"/>
                </a:solidFill>
              </a:rPr>
              <a:t>c</a:t>
            </a:r>
            <a:r>
              <a:rPr dirty="0" sz="13050" spc="655">
                <a:solidFill>
                  <a:srgbClr val="331B0D"/>
                </a:solidFill>
              </a:rPr>
              <a:t>t</a:t>
            </a:r>
            <a:r>
              <a:rPr dirty="0" sz="13050" spc="-15">
                <a:solidFill>
                  <a:srgbClr val="331B0D"/>
                </a:solidFill>
              </a:rPr>
              <a:t> </a:t>
            </a:r>
            <a:r>
              <a:rPr dirty="0" sz="13050" spc="-65">
                <a:solidFill>
                  <a:srgbClr val="331B0D"/>
                </a:solidFill>
              </a:rPr>
              <a:t>P</a:t>
            </a:r>
            <a:r>
              <a:rPr dirty="0" sz="13050" spc="-440">
                <a:solidFill>
                  <a:srgbClr val="331B0D"/>
                </a:solidFill>
              </a:rPr>
              <a:t>r</a:t>
            </a:r>
            <a:r>
              <a:rPr dirty="0" sz="13050" spc="-40">
                <a:solidFill>
                  <a:srgbClr val="331B0D"/>
                </a:solidFill>
              </a:rPr>
              <a:t>e</a:t>
            </a:r>
            <a:r>
              <a:rPr dirty="0" sz="13050" spc="-15">
                <a:solidFill>
                  <a:srgbClr val="331B0D"/>
                </a:solidFill>
              </a:rPr>
              <a:t>s</a:t>
            </a:r>
            <a:r>
              <a:rPr dirty="0" sz="13050" spc="-40">
                <a:solidFill>
                  <a:srgbClr val="331B0D"/>
                </a:solidFill>
              </a:rPr>
              <a:t>e</a:t>
            </a:r>
            <a:r>
              <a:rPr dirty="0" sz="13050" spc="-360">
                <a:solidFill>
                  <a:srgbClr val="331B0D"/>
                </a:solidFill>
              </a:rPr>
              <a:t>n</a:t>
            </a:r>
            <a:r>
              <a:rPr dirty="0" sz="13050" spc="-114">
                <a:solidFill>
                  <a:srgbClr val="331B0D"/>
                </a:solidFill>
              </a:rPr>
              <a:t>t</a:t>
            </a:r>
            <a:r>
              <a:rPr dirty="0" sz="13050" spc="-105">
                <a:solidFill>
                  <a:srgbClr val="331B0D"/>
                </a:solidFill>
              </a:rPr>
              <a:t>a</a:t>
            </a:r>
            <a:r>
              <a:rPr dirty="0" sz="13050" spc="-114">
                <a:solidFill>
                  <a:srgbClr val="331B0D"/>
                </a:solidFill>
              </a:rPr>
              <a:t>t</a:t>
            </a:r>
            <a:r>
              <a:rPr dirty="0" sz="13050" spc="-175">
                <a:solidFill>
                  <a:srgbClr val="331B0D"/>
                </a:solidFill>
              </a:rPr>
              <a:t>i</a:t>
            </a:r>
            <a:r>
              <a:rPr dirty="0" sz="13050" spc="-55">
                <a:solidFill>
                  <a:srgbClr val="331B0D"/>
                </a:solidFill>
              </a:rPr>
              <a:t>o</a:t>
            </a:r>
            <a:r>
              <a:rPr dirty="0" sz="13050" spc="620">
                <a:solidFill>
                  <a:srgbClr val="331B0D"/>
                </a:solidFill>
              </a:rPr>
              <a:t>n</a:t>
            </a:r>
            <a:endParaRPr sz="13050"/>
          </a:p>
        </p:txBody>
      </p:sp>
      <p:sp>
        <p:nvSpPr>
          <p:cNvPr id="3" name="object 3"/>
          <p:cNvSpPr txBox="1"/>
          <p:nvPr/>
        </p:nvSpPr>
        <p:spPr>
          <a:xfrm>
            <a:off x="13145050" y="7163103"/>
            <a:ext cx="4126865" cy="173101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algn="r" marR="116839">
              <a:lnSpc>
                <a:spcPct val="100000"/>
              </a:lnSpc>
              <a:spcBef>
                <a:spcPts val="1260"/>
              </a:spcBef>
            </a:pPr>
            <a:r>
              <a:rPr dirty="0" sz="2400" spc="204" b="1">
                <a:solidFill>
                  <a:srgbClr val="8B7753"/>
                </a:solidFill>
                <a:latin typeface="Tahoma"/>
                <a:cs typeface="Tahoma"/>
              </a:rPr>
              <a:t>TEAM</a:t>
            </a:r>
            <a:endParaRPr sz="2400">
              <a:latin typeface="Tahoma"/>
              <a:cs typeface="Tahoma"/>
            </a:endParaRPr>
          </a:p>
          <a:p>
            <a:pPr algn="r" marL="12700" marR="5080" indent="226695">
              <a:lnSpc>
                <a:spcPct val="116100"/>
              </a:lnSpc>
              <a:spcBef>
                <a:spcPts val="610"/>
              </a:spcBef>
            </a:pPr>
            <a:r>
              <a:rPr dirty="0" sz="2100" spc="114">
                <a:solidFill>
                  <a:srgbClr val="331B0D"/>
                </a:solidFill>
                <a:latin typeface="Tahoma"/>
                <a:cs typeface="Tahoma"/>
              </a:rPr>
              <a:t>Ashish</a:t>
            </a:r>
            <a:r>
              <a:rPr dirty="0" sz="21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331B0D"/>
                </a:solidFill>
                <a:latin typeface="Tahoma"/>
                <a:cs typeface="Tahoma"/>
              </a:rPr>
              <a:t>Mishra</a:t>
            </a:r>
            <a:r>
              <a:rPr dirty="0" sz="21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331B0D"/>
                </a:solidFill>
                <a:latin typeface="Tahoma"/>
                <a:cs typeface="Tahoma"/>
              </a:rPr>
              <a:t>-</a:t>
            </a:r>
            <a:r>
              <a:rPr dirty="0" sz="21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60">
                <a:solidFill>
                  <a:srgbClr val="331B0D"/>
                </a:solidFill>
                <a:latin typeface="Tahoma"/>
                <a:cs typeface="Tahoma"/>
              </a:rPr>
              <a:t>70562500093 </a:t>
            </a:r>
            <a:r>
              <a:rPr dirty="0" sz="2100" spc="90">
                <a:solidFill>
                  <a:srgbClr val="331B0D"/>
                </a:solidFill>
                <a:latin typeface="Tahoma"/>
                <a:cs typeface="Tahoma"/>
              </a:rPr>
              <a:t>Bhavya</a:t>
            </a:r>
            <a:r>
              <a:rPr dirty="0" sz="21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331B0D"/>
                </a:solidFill>
                <a:latin typeface="Tahoma"/>
                <a:cs typeface="Tahoma"/>
              </a:rPr>
              <a:t>Shah</a:t>
            </a:r>
            <a:r>
              <a:rPr dirty="0" sz="21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331B0D"/>
                </a:solidFill>
                <a:latin typeface="Tahoma"/>
                <a:cs typeface="Tahoma"/>
              </a:rPr>
              <a:t>-</a:t>
            </a:r>
            <a:r>
              <a:rPr dirty="0" sz="21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40">
                <a:solidFill>
                  <a:srgbClr val="331B0D"/>
                </a:solidFill>
                <a:latin typeface="Tahoma"/>
                <a:cs typeface="Tahoma"/>
              </a:rPr>
              <a:t>70562500077 </a:t>
            </a:r>
            <a:r>
              <a:rPr dirty="0" sz="2100" spc="135">
                <a:solidFill>
                  <a:srgbClr val="331B0D"/>
                </a:solidFill>
                <a:latin typeface="Tahoma"/>
                <a:cs typeface="Tahoma"/>
              </a:rPr>
              <a:t>Vidushee</a:t>
            </a:r>
            <a:r>
              <a:rPr dirty="0" sz="21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331B0D"/>
                </a:solidFill>
                <a:latin typeface="Tahoma"/>
                <a:cs typeface="Tahoma"/>
              </a:rPr>
              <a:t>Gupta</a:t>
            </a:r>
            <a:r>
              <a:rPr dirty="0" sz="21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331B0D"/>
                </a:solidFill>
                <a:latin typeface="Tahoma"/>
                <a:cs typeface="Tahoma"/>
              </a:rPr>
              <a:t>-</a:t>
            </a:r>
            <a:r>
              <a:rPr dirty="0" sz="21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331B0D"/>
                </a:solidFill>
                <a:latin typeface="Tahoma"/>
                <a:cs typeface="Tahoma"/>
              </a:rPr>
              <a:t>70562500144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16000" y="1857061"/>
            <a:ext cx="449262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705"/>
              <a:t> </a:t>
            </a:r>
            <a:r>
              <a:rPr dirty="0" spc="-10"/>
              <a:t>Overview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860684"/>
            <a:ext cx="1047749" cy="1266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8914" y="3860684"/>
            <a:ext cx="1114424" cy="1152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49128" y="3365384"/>
            <a:ext cx="809624" cy="17621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6000" y="5690869"/>
            <a:ext cx="2874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40">
                <a:solidFill>
                  <a:srgbClr val="8B7753"/>
                </a:solidFill>
                <a:latin typeface="Tahoma"/>
                <a:cs typeface="Tahoma"/>
              </a:rPr>
              <a:t>Problem</a:t>
            </a:r>
            <a:r>
              <a:rPr dirty="0" sz="2400" spc="-8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8B7753"/>
                </a:solidFill>
                <a:latin typeface="Tahoma"/>
                <a:cs typeface="Tahoma"/>
              </a:rPr>
              <a:t>Statement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6213" y="5690869"/>
            <a:ext cx="12344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5">
                <a:solidFill>
                  <a:srgbClr val="8B7753"/>
                </a:solidFill>
                <a:latin typeface="Tahoma"/>
                <a:cs typeface="Tahoma"/>
              </a:rPr>
              <a:t>Solution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36428" y="5690869"/>
            <a:ext cx="2247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85">
                <a:solidFill>
                  <a:srgbClr val="8B7753"/>
                </a:solidFill>
                <a:latin typeface="Tahoma"/>
                <a:cs typeface="Tahoma"/>
              </a:rPr>
              <a:t>Why</a:t>
            </a:r>
            <a:r>
              <a:rPr dirty="0" sz="2400" spc="-7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8B7753"/>
                </a:solidFill>
                <a:latin typeface="Tahoma"/>
                <a:cs typeface="Tahoma"/>
              </a:rPr>
              <a:t>Linked</a:t>
            </a:r>
            <a:r>
              <a:rPr dirty="0" sz="2400" spc="-7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400" spc="80">
                <a:solidFill>
                  <a:srgbClr val="8B7753"/>
                </a:solidFill>
                <a:latin typeface="Tahoma"/>
                <a:cs typeface="Tahoma"/>
              </a:rPr>
              <a:t>list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6401434"/>
            <a:ext cx="3807460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>
                <a:solidFill>
                  <a:srgbClr val="331B0D"/>
                </a:solidFill>
                <a:latin typeface="Tahoma"/>
                <a:cs typeface="Tahoma"/>
              </a:rPr>
              <a:t>To</a:t>
            </a:r>
            <a:r>
              <a:rPr dirty="0" sz="21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331B0D"/>
                </a:solidFill>
                <a:latin typeface="Tahoma"/>
                <a:cs typeface="Tahoma"/>
              </a:rPr>
              <a:t>design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331B0D"/>
                </a:solidFill>
                <a:latin typeface="Tahoma"/>
                <a:cs typeface="Tahoma"/>
              </a:rPr>
              <a:t>a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30">
                <a:solidFill>
                  <a:srgbClr val="331B0D"/>
                </a:solidFill>
                <a:latin typeface="Tahoma"/>
                <a:cs typeface="Tahoma"/>
              </a:rPr>
              <a:t>customer</a:t>
            </a:r>
            <a:r>
              <a:rPr dirty="0" sz="21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331B0D"/>
                </a:solidFill>
                <a:latin typeface="Tahoma"/>
                <a:cs typeface="Tahoma"/>
              </a:rPr>
              <a:t>service </a:t>
            </a:r>
            <a:r>
              <a:rPr dirty="0" sz="2100" spc="100">
                <a:solidFill>
                  <a:srgbClr val="331B0D"/>
                </a:solidFill>
                <a:latin typeface="Tahoma"/>
                <a:cs typeface="Tahoma"/>
              </a:rPr>
              <a:t>ticket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331B0D"/>
                </a:solidFill>
                <a:latin typeface="Tahoma"/>
                <a:cs typeface="Tahoma"/>
              </a:rPr>
              <a:t>allocator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6213" y="6452869"/>
            <a:ext cx="40366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00">
                <a:solidFill>
                  <a:srgbClr val="331B0D"/>
                </a:solidFill>
                <a:latin typeface="Tahoma"/>
                <a:cs typeface="Tahoma"/>
              </a:rPr>
              <a:t>Using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331B0D"/>
                </a:solidFill>
                <a:latin typeface="Tahoma"/>
                <a:cs typeface="Tahoma"/>
              </a:rPr>
              <a:t>a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331B0D"/>
                </a:solidFill>
                <a:latin typeface="Tahoma"/>
                <a:cs typeface="Tahoma"/>
              </a:rPr>
              <a:t>linked</a:t>
            </a:r>
            <a:r>
              <a:rPr dirty="0" sz="21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331B0D"/>
                </a:solidFill>
                <a:latin typeface="Tahoma"/>
                <a:cs typeface="Tahoma"/>
              </a:rPr>
              <a:t>list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70">
                <a:solidFill>
                  <a:srgbClr val="331B0D"/>
                </a:solidFill>
                <a:latin typeface="Tahoma"/>
                <a:cs typeface="Tahoma"/>
              </a:rPr>
              <a:t>based</a:t>
            </a:r>
            <a:r>
              <a:rPr dirty="0" sz="21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331B0D"/>
                </a:solidFill>
                <a:latin typeface="Tahoma"/>
                <a:cs typeface="Tahoma"/>
              </a:rPr>
              <a:t>queue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36428" y="6401434"/>
            <a:ext cx="4131310" cy="188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114">
                <a:solidFill>
                  <a:srgbClr val="331B0D"/>
                </a:solidFill>
                <a:latin typeface="Tahoma"/>
                <a:cs typeface="Tahoma"/>
              </a:rPr>
              <a:t>Due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331B0D"/>
                </a:solidFill>
                <a:latin typeface="Tahoma"/>
                <a:cs typeface="Tahoma"/>
              </a:rPr>
              <a:t>to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331B0D"/>
                </a:solidFill>
                <a:latin typeface="Tahoma"/>
                <a:cs typeface="Tahoma"/>
              </a:rPr>
              <a:t>the</a:t>
            </a:r>
            <a:r>
              <a:rPr dirty="0" sz="21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331B0D"/>
                </a:solidFill>
                <a:latin typeface="Tahoma"/>
                <a:cs typeface="Tahoma"/>
              </a:rPr>
              <a:t>property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1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331B0D"/>
                </a:solidFill>
                <a:latin typeface="Tahoma"/>
                <a:cs typeface="Tahoma"/>
              </a:rPr>
              <a:t>dynamic </a:t>
            </a:r>
            <a:r>
              <a:rPr dirty="0" sz="2100" spc="120">
                <a:solidFill>
                  <a:srgbClr val="331B0D"/>
                </a:solidFill>
                <a:latin typeface="Tahoma"/>
                <a:cs typeface="Tahoma"/>
              </a:rPr>
              <a:t>memory</a:t>
            </a:r>
            <a:r>
              <a:rPr dirty="0" sz="21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331B0D"/>
                </a:solidFill>
                <a:latin typeface="Tahoma"/>
                <a:cs typeface="Tahoma"/>
              </a:rPr>
              <a:t>it</a:t>
            </a:r>
            <a:r>
              <a:rPr dirty="0" sz="21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331B0D"/>
                </a:solidFill>
                <a:latin typeface="Tahoma"/>
                <a:cs typeface="Tahoma"/>
              </a:rPr>
              <a:t>can</a:t>
            </a:r>
            <a:r>
              <a:rPr dirty="0" sz="21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30">
                <a:solidFill>
                  <a:srgbClr val="331B0D"/>
                </a:solidFill>
                <a:latin typeface="Tahoma"/>
                <a:cs typeface="Tahoma"/>
              </a:rPr>
              <a:t>allocate</a:t>
            </a:r>
            <a:r>
              <a:rPr dirty="0" sz="21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60">
                <a:solidFill>
                  <a:srgbClr val="331B0D"/>
                </a:solidFill>
                <a:latin typeface="Tahoma"/>
                <a:cs typeface="Tahoma"/>
              </a:rPr>
              <a:t>as</a:t>
            </a:r>
            <a:r>
              <a:rPr dirty="0" sz="21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331B0D"/>
                </a:solidFill>
                <a:latin typeface="Tahoma"/>
                <a:cs typeface="Tahoma"/>
              </a:rPr>
              <a:t>many </a:t>
            </a:r>
            <a:r>
              <a:rPr dirty="0" sz="2100" spc="120">
                <a:solidFill>
                  <a:srgbClr val="331B0D"/>
                </a:solidFill>
                <a:latin typeface="Tahoma"/>
                <a:cs typeface="Tahoma"/>
              </a:rPr>
              <a:t>tickets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60">
                <a:solidFill>
                  <a:srgbClr val="331B0D"/>
                </a:solidFill>
                <a:latin typeface="Tahoma"/>
                <a:cs typeface="Tahoma"/>
              </a:rPr>
              <a:t>as</a:t>
            </a:r>
            <a:r>
              <a:rPr dirty="0" sz="21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50">
                <a:solidFill>
                  <a:srgbClr val="331B0D"/>
                </a:solidFill>
                <a:latin typeface="Tahoma"/>
                <a:cs typeface="Tahoma"/>
              </a:rPr>
              <a:t>possible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331B0D"/>
                </a:solidFill>
                <a:latin typeface="Tahoma"/>
                <a:cs typeface="Tahoma"/>
              </a:rPr>
              <a:t>while</a:t>
            </a:r>
            <a:r>
              <a:rPr dirty="0" sz="21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331B0D"/>
                </a:solidFill>
                <a:latin typeface="Tahoma"/>
                <a:cs typeface="Tahoma"/>
              </a:rPr>
              <a:t>array </a:t>
            </a:r>
            <a:r>
              <a:rPr dirty="0" sz="2100" spc="170">
                <a:solidFill>
                  <a:srgbClr val="331B0D"/>
                </a:solidFill>
                <a:latin typeface="Tahoma"/>
                <a:cs typeface="Tahoma"/>
              </a:rPr>
              <a:t>based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65">
                <a:solidFill>
                  <a:srgbClr val="331B0D"/>
                </a:solidFill>
                <a:latin typeface="Tahoma"/>
                <a:cs typeface="Tahoma"/>
              </a:rPr>
              <a:t>ones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331B0D"/>
                </a:solidFill>
                <a:latin typeface="Tahoma"/>
                <a:cs typeface="Tahoma"/>
              </a:rPr>
              <a:t>would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331B0D"/>
                </a:solidFill>
                <a:latin typeface="Tahoma"/>
                <a:cs typeface="Tahoma"/>
              </a:rPr>
              <a:t>have</a:t>
            </a:r>
            <a:r>
              <a:rPr dirty="0" sz="21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60">
                <a:solidFill>
                  <a:srgbClr val="331B0D"/>
                </a:solidFill>
                <a:latin typeface="Tahoma"/>
                <a:cs typeface="Tahoma"/>
              </a:rPr>
              <a:t>faced</a:t>
            </a:r>
            <a:r>
              <a:rPr dirty="0" sz="21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-50">
                <a:solidFill>
                  <a:srgbClr val="331B0D"/>
                </a:solidFill>
                <a:latin typeface="Tahoma"/>
                <a:cs typeface="Tahoma"/>
              </a:rPr>
              <a:t>a </a:t>
            </a:r>
            <a:r>
              <a:rPr dirty="0" sz="2100" spc="15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1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331B0D"/>
                </a:solidFill>
                <a:latin typeface="Tahoma"/>
                <a:cs typeface="Tahoma"/>
              </a:rPr>
              <a:t>no</a:t>
            </a:r>
            <a:r>
              <a:rPr dirty="0" sz="21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1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331B0D"/>
                </a:solidFill>
                <a:latin typeface="Tahoma"/>
                <a:cs typeface="Tahoma"/>
              </a:rPr>
              <a:t>tickets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 spc="105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259715"/>
            <a:ext cx="286829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Algorithms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1.</a:t>
            </a:r>
            <a:r>
              <a:rPr dirty="0" spc="-95"/>
              <a:t> </a:t>
            </a:r>
            <a:r>
              <a:rPr dirty="0" spc="125"/>
              <a:t>Algorithm</a:t>
            </a:r>
            <a:r>
              <a:rPr dirty="0" spc="-90"/>
              <a:t> </a:t>
            </a:r>
            <a:r>
              <a:rPr dirty="0" spc="105"/>
              <a:t>for</a:t>
            </a:r>
            <a:r>
              <a:rPr dirty="0" spc="-95"/>
              <a:t> </a:t>
            </a:r>
            <a:r>
              <a:rPr dirty="0" spc="60"/>
              <a:t>addticket()</a:t>
            </a:r>
          </a:p>
          <a:p>
            <a:pPr marL="12700" marR="4358005">
              <a:lnSpc>
                <a:spcPct val="232100"/>
              </a:lnSpc>
              <a:spcBef>
                <a:spcPts val="390"/>
              </a:spcBef>
            </a:pPr>
            <a:r>
              <a:rPr dirty="0" sz="2800" spc="204">
                <a:solidFill>
                  <a:srgbClr val="331B0D"/>
                </a:solidFill>
              </a:rPr>
              <a:t>Step</a:t>
            </a:r>
            <a:r>
              <a:rPr dirty="0" sz="2800" spc="-90">
                <a:solidFill>
                  <a:srgbClr val="331B0D"/>
                </a:solidFill>
              </a:rPr>
              <a:t> </a:t>
            </a:r>
            <a:r>
              <a:rPr dirty="0" sz="2800" spc="-375">
                <a:solidFill>
                  <a:srgbClr val="331B0D"/>
                </a:solidFill>
              </a:rPr>
              <a:t>1:</a:t>
            </a:r>
            <a:r>
              <a:rPr dirty="0" sz="2800" spc="-85">
                <a:solidFill>
                  <a:srgbClr val="331B0D"/>
                </a:solidFill>
              </a:rPr>
              <a:t> </a:t>
            </a:r>
            <a:r>
              <a:rPr dirty="0" sz="2800" spc="165">
                <a:solidFill>
                  <a:srgbClr val="331B0D"/>
                </a:solidFill>
              </a:rPr>
              <a:t>Read</a:t>
            </a:r>
            <a:r>
              <a:rPr dirty="0" sz="2800" spc="-90">
                <a:solidFill>
                  <a:srgbClr val="331B0D"/>
                </a:solidFill>
              </a:rPr>
              <a:t> </a:t>
            </a:r>
            <a:r>
              <a:rPr dirty="0" sz="2800" spc="175">
                <a:solidFill>
                  <a:srgbClr val="331B0D"/>
                </a:solidFill>
              </a:rPr>
              <a:t>customer</a:t>
            </a:r>
            <a:r>
              <a:rPr dirty="0" sz="2800" spc="-85">
                <a:solidFill>
                  <a:srgbClr val="331B0D"/>
                </a:solidFill>
              </a:rPr>
              <a:t> </a:t>
            </a:r>
            <a:r>
              <a:rPr dirty="0" sz="2800" spc="-25">
                <a:solidFill>
                  <a:srgbClr val="331B0D"/>
                </a:solidFill>
              </a:rPr>
              <a:t>id. </a:t>
            </a:r>
            <a:r>
              <a:rPr dirty="0" sz="2800" spc="204">
                <a:solidFill>
                  <a:srgbClr val="331B0D"/>
                </a:solidFill>
              </a:rPr>
              <a:t>Step</a:t>
            </a:r>
            <a:r>
              <a:rPr dirty="0" sz="2800" spc="-110">
                <a:solidFill>
                  <a:srgbClr val="331B0D"/>
                </a:solidFill>
              </a:rPr>
              <a:t> </a:t>
            </a:r>
            <a:r>
              <a:rPr dirty="0" sz="2800" spc="-35">
                <a:solidFill>
                  <a:srgbClr val="331B0D"/>
                </a:solidFill>
              </a:rPr>
              <a:t>2:</a:t>
            </a:r>
            <a:r>
              <a:rPr dirty="0" sz="2800" spc="-110">
                <a:solidFill>
                  <a:srgbClr val="331B0D"/>
                </a:solidFill>
              </a:rPr>
              <a:t> </a:t>
            </a:r>
            <a:r>
              <a:rPr dirty="0" sz="2800" spc="165">
                <a:solidFill>
                  <a:srgbClr val="331B0D"/>
                </a:solidFill>
              </a:rPr>
              <a:t>Read</a:t>
            </a:r>
            <a:r>
              <a:rPr dirty="0" sz="2800" spc="-105">
                <a:solidFill>
                  <a:srgbClr val="331B0D"/>
                </a:solidFill>
              </a:rPr>
              <a:t> </a:t>
            </a:r>
            <a:r>
              <a:rPr dirty="0" sz="2800" spc="175">
                <a:solidFill>
                  <a:srgbClr val="331B0D"/>
                </a:solidFill>
              </a:rPr>
              <a:t>customer</a:t>
            </a:r>
            <a:r>
              <a:rPr dirty="0" sz="2800" spc="-110">
                <a:solidFill>
                  <a:srgbClr val="331B0D"/>
                </a:solidFill>
              </a:rPr>
              <a:t> </a:t>
            </a:r>
            <a:r>
              <a:rPr dirty="0" sz="2800" spc="70">
                <a:solidFill>
                  <a:srgbClr val="331B0D"/>
                </a:solidFill>
              </a:rPr>
              <a:t>name.</a:t>
            </a:r>
            <a:endParaRPr sz="2800"/>
          </a:p>
          <a:p>
            <a:pPr marL="12700" marR="5080">
              <a:lnSpc>
                <a:spcPct val="232100"/>
              </a:lnSpc>
            </a:pPr>
            <a:r>
              <a:rPr dirty="0" sz="2800" spc="204">
                <a:solidFill>
                  <a:srgbClr val="331B0D"/>
                </a:solidFill>
              </a:rPr>
              <a:t>Step</a:t>
            </a:r>
            <a:r>
              <a:rPr dirty="0" sz="2800" spc="-100">
                <a:solidFill>
                  <a:srgbClr val="331B0D"/>
                </a:solidFill>
              </a:rPr>
              <a:t> </a:t>
            </a:r>
            <a:r>
              <a:rPr dirty="0" sz="2800" spc="-10">
                <a:solidFill>
                  <a:srgbClr val="331B0D"/>
                </a:solidFill>
              </a:rPr>
              <a:t>3: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165">
                <a:solidFill>
                  <a:srgbClr val="331B0D"/>
                </a:solidFill>
              </a:rPr>
              <a:t>Read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175">
                <a:solidFill>
                  <a:srgbClr val="331B0D"/>
                </a:solidFill>
              </a:rPr>
              <a:t>customer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80">
                <a:solidFill>
                  <a:srgbClr val="331B0D"/>
                </a:solidFill>
              </a:rPr>
              <a:t>priority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-285">
                <a:solidFill>
                  <a:srgbClr val="331B0D"/>
                </a:solidFill>
              </a:rPr>
              <a:t>(1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95">
                <a:solidFill>
                  <a:srgbClr val="331B0D"/>
                </a:solidFill>
              </a:rPr>
              <a:t>for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>
                <a:solidFill>
                  <a:srgbClr val="331B0D"/>
                </a:solidFill>
              </a:rPr>
              <a:t>VIP,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270">
                <a:solidFill>
                  <a:srgbClr val="331B0D"/>
                </a:solidFill>
              </a:rPr>
              <a:t>2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95">
                <a:solidFill>
                  <a:srgbClr val="331B0D"/>
                </a:solidFill>
              </a:rPr>
              <a:t>for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-10">
                <a:solidFill>
                  <a:srgbClr val="331B0D"/>
                </a:solidFill>
              </a:rPr>
              <a:t>Regular). </a:t>
            </a:r>
            <a:r>
              <a:rPr dirty="0" sz="2800" spc="204">
                <a:solidFill>
                  <a:srgbClr val="331B0D"/>
                </a:solidFill>
              </a:rPr>
              <a:t>Step</a:t>
            </a:r>
            <a:r>
              <a:rPr dirty="0" sz="2800" spc="-110">
                <a:solidFill>
                  <a:srgbClr val="331B0D"/>
                </a:solidFill>
              </a:rPr>
              <a:t> </a:t>
            </a:r>
            <a:r>
              <a:rPr dirty="0" sz="2800" spc="-10">
                <a:solidFill>
                  <a:srgbClr val="331B0D"/>
                </a:solidFill>
              </a:rPr>
              <a:t>4: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-135">
                <a:solidFill>
                  <a:srgbClr val="331B0D"/>
                </a:solidFill>
              </a:rPr>
              <a:t>If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80">
                <a:solidFill>
                  <a:srgbClr val="331B0D"/>
                </a:solidFill>
              </a:rPr>
              <a:t>priority</a:t>
            </a:r>
            <a:r>
              <a:rPr dirty="0" sz="2800" spc="-100">
                <a:solidFill>
                  <a:srgbClr val="331B0D"/>
                </a:solidFill>
              </a:rPr>
              <a:t> </a:t>
            </a:r>
            <a:r>
              <a:rPr dirty="0" sz="2800" spc="145">
                <a:solidFill>
                  <a:srgbClr val="331B0D"/>
                </a:solidFill>
              </a:rPr>
              <a:t>is</a:t>
            </a:r>
            <a:r>
              <a:rPr dirty="0" sz="2800" spc="-100">
                <a:solidFill>
                  <a:srgbClr val="331B0D"/>
                </a:solidFill>
              </a:rPr>
              <a:t> </a:t>
            </a:r>
            <a:r>
              <a:rPr dirty="0" sz="2800" spc="95">
                <a:solidFill>
                  <a:srgbClr val="331B0D"/>
                </a:solidFill>
              </a:rPr>
              <a:t>neither</a:t>
            </a:r>
            <a:r>
              <a:rPr dirty="0" sz="2800" spc="-100">
                <a:solidFill>
                  <a:srgbClr val="331B0D"/>
                </a:solidFill>
              </a:rPr>
              <a:t> </a:t>
            </a:r>
            <a:r>
              <a:rPr dirty="0" sz="2800" spc="-325">
                <a:solidFill>
                  <a:srgbClr val="331B0D"/>
                </a:solidFill>
              </a:rPr>
              <a:t>1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95">
                <a:solidFill>
                  <a:srgbClr val="331B0D"/>
                </a:solidFill>
              </a:rPr>
              <a:t>nor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80">
                <a:solidFill>
                  <a:srgbClr val="331B0D"/>
                </a:solidFill>
              </a:rPr>
              <a:t>2,</a:t>
            </a:r>
            <a:r>
              <a:rPr dirty="0" sz="2800" spc="-100">
                <a:solidFill>
                  <a:srgbClr val="331B0D"/>
                </a:solidFill>
              </a:rPr>
              <a:t> </a:t>
            </a:r>
            <a:r>
              <a:rPr dirty="0" sz="2800" spc="-10">
                <a:solidFill>
                  <a:srgbClr val="331B0D"/>
                </a:solidFill>
              </a:rPr>
              <a:t>then:</a:t>
            </a:r>
            <a:endParaRPr sz="2800"/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800"/>
          </a:p>
          <a:p>
            <a:pPr marL="12700">
              <a:lnSpc>
                <a:spcPct val="100000"/>
              </a:lnSpc>
            </a:pPr>
            <a:r>
              <a:rPr dirty="0" sz="2800" spc="135">
                <a:solidFill>
                  <a:srgbClr val="331B0D"/>
                </a:solidFill>
              </a:rPr>
              <a:t>Write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45">
                <a:solidFill>
                  <a:srgbClr val="331B0D"/>
                </a:solidFill>
              </a:rPr>
              <a:t>"invalid</a:t>
            </a:r>
            <a:r>
              <a:rPr dirty="0" sz="2800" spc="-95">
                <a:solidFill>
                  <a:srgbClr val="331B0D"/>
                </a:solidFill>
              </a:rPr>
              <a:t> </a:t>
            </a:r>
            <a:r>
              <a:rPr dirty="0" sz="2800" spc="45">
                <a:solidFill>
                  <a:srgbClr val="331B0D"/>
                </a:solidFill>
              </a:rPr>
              <a:t>priority"</a:t>
            </a:r>
            <a:endParaRPr sz="2800"/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60">
                <a:solidFill>
                  <a:srgbClr val="331B0D"/>
                </a:solidFill>
              </a:rPr>
              <a:t>Exit</a:t>
            </a:r>
            <a:endParaRPr sz="2800"/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800"/>
          </a:p>
          <a:p>
            <a:pPr marL="12700">
              <a:lnSpc>
                <a:spcPct val="100000"/>
              </a:lnSpc>
            </a:pPr>
            <a:r>
              <a:rPr dirty="0" sz="2800" spc="65">
                <a:solidFill>
                  <a:srgbClr val="331B0D"/>
                </a:solidFill>
              </a:rPr>
              <a:t>[End</a:t>
            </a:r>
            <a:r>
              <a:rPr dirty="0" sz="2800" spc="-85">
                <a:solidFill>
                  <a:srgbClr val="331B0D"/>
                </a:solidFill>
              </a:rPr>
              <a:t> </a:t>
            </a:r>
            <a:r>
              <a:rPr dirty="0" sz="2800" spc="155">
                <a:solidFill>
                  <a:srgbClr val="331B0D"/>
                </a:solidFill>
              </a:rPr>
              <a:t>of</a:t>
            </a:r>
            <a:r>
              <a:rPr dirty="0" sz="2800" spc="-85">
                <a:solidFill>
                  <a:srgbClr val="331B0D"/>
                </a:solidFill>
              </a:rPr>
              <a:t> </a:t>
            </a:r>
            <a:r>
              <a:rPr dirty="0" sz="2800" spc="-25">
                <a:solidFill>
                  <a:srgbClr val="331B0D"/>
                </a:solidFill>
              </a:rPr>
              <a:t>If]</a:t>
            </a:r>
            <a:endParaRPr sz="28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8948" y="0"/>
            <a:ext cx="6149050" cy="10286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 spc="105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0303" y="934707"/>
            <a:ext cx="12343130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60755">
              <a:lnSpc>
                <a:spcPct val="115399"/>
              </a:lnSpc>
              <a:spcBef>
                <a:spcPts val="100"/>
              </a:spcBef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331B0D"/>
                </a:solidFill>
                <a:latin typeface="Tahoma"/>
                <a:cs typeface="Tahoma"/>
              </a:rPr>
              <a:t>5: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70">
                <a:solidFill>
                  <a:srgbClr val="331B0D"/>
                </a:solidFill>
                <a:latin typeface="Tahoma"/>
                <a:cs typeface="Tahoma"/>
              </a:rPr>
              <a:t>Allocate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0">
                <a:solidFill>
                  <a:srgbClr val="331B0D"/>
                </a:solidFill>
                <a:latin typeface="Tahoma"/>
                <a:cs typeface="Tahoma"/>
              </a:rPr>
              <a:t>memory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for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0">
                <a:solidFill>
                  <a:srgbClr val="331B0D"/>
                </a:solidFill>
                <a:latin typeface="Tahoma"/>
                <a:cs typeface="Tahoma"/>
              </a:rPr>
              <a:t>allocation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331B0D"/>
                </a:solidFill>
                <a:latin typeface="Tahoma"/>
                <a:cs typeface="Tahoma"/>
              </a:rPr>
              <a:t>fails,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5">
                <a:solidFill>
                  <a:srgbClr val="331B0D"/>
                </a:solidFill>
                <a:latin typeface="Tahoma"/>
                <a:cs typeface="Tahoma"/>
              </a:rPr>
              <a:t>"memory </a:t>
            </a:r>
            <a:r>
              <a:rPr dirty="0" sz="2600" spc="130">
                <a:solidFill>
                  <a:srgbClr val="331B0D"/>
                </a:solidFill>
                <a:latin typeface="Tahoma"/>
                <a:cs typeface="Tahoma"/>
              </a:rPr>
              <a:t>allocation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331B0D"/>
                </a:solidFill>
                <a:latin typeface="Tahoma"/>
                <a:cs typeface="Tahoma"/>
              </a:rPr>
              <a:t>failed"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exit.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213360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331B0D"/>
                </a:solidFill>
                <a:latin typeface="Tahoma"/>
                <a:cs typeface="Tahoma"/>
              </a:rPr>
              <a:t>6: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&gt;id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id,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&gt;name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name,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&gt;priority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64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50">
                <a:solidFill>
                  <a:srgbClr val="331B0D"/>
                </a:solidFill>
                <a:latin typeface="Tahoma"/>
                <a:cs typeface="Tahoma"/>
              </a:rPr>
              <a:t> priority,</a:t>
            </a:r>
            <a:r>
              <a:rPr dirty="0" sz="26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NULL.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1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7: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0">
                <a:solidFill>
                  <a:srgbClr val="331B0D"/>
                </a:solidFill>
                <a:latin typeface="Tahoma"/>
                <a:cs typeface="Tahoma"/>
              </a:rPr>
              <a:t>priority</a:t>
            </a:r>
            <a:r>
              <a:rPr dirty="0" sz="26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15">
                <a:solidFill>
                  <a:srgbClr val="331B0D"/>
                </a:solidFill>
                <a:latin typeface="Tahoma"/>
                <a:cs typeface="Tahoma"/>
              </a:rPr>
              <a:t>1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(VIP</a:t>
            </a:r>
            <a:r>
              <a:rPr dirty="0" sz="26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Ticket),</a:t>
            </a:r>
            <a:r>
              <a:rPr dirty="0" sz="26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then:</a:t>
            </a:r>
            <a:endParaRPr sz="2600">
              <a:latin typeface="Tahoma"/>
              <a:cs typeface="Tahoma"/>
            </a:endParaRPr>
          </a:p>
          <a:p>
            <a:pPr marL="12700" marR="355600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95">
                <a:solidFill>
                  <a:srgbClr val="331B0D"/>
                </a:solidFill>
                <a:latin typeface="Tahoma"/>
                <a:cs typeface="Tahoma"/>
              </a:rPr>
              <a:t>7.1: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NULL,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00">
                <a:solidFill>
                  <a:srgbClr val="331B0D"/>
                </a:solidFill>
                <a:latin typeface="Tahoma"/>
                <a:cs typeface="Tahoma"/>
              </a:rPr>
              <a:t>then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newNode,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newNode,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and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regRear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endParaRPr sz="2600">
              <a:latin typeface="Tahoma"/>
              <a:cs typeface="Tahoma"/>
            </a:endParaRPr>
          </a:p>
          <a:p>
            <a:pPr marL="12700" marR="6350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331B0D"/>
                </a:solidFill>
                <a:latin typeface="Tahoma"/>
                <a:cs typeface="Tahoma"/>
              </a:rPr>
              <a:t>7.2: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5">
                <a:solidFill>
                  <a:srgbClr val="331B0D"/>
                </a:solidFill>
                <a:latin typeface="Tahoma"/>
                <a:cs typeface="Tahoma"/>
              </a:rPr>
              <a:t>Else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NULL,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331B0D"/>
                </a:solidFill>
                <a:latin typeface="Tahoma"/>
                <a:cs typeface="Tahoma"/>
              </a:rPr>
              <a:t>head,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newNode,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endParaRPr sz="2600">
              <a:latin typeface="Tahoma"/>
              <a:cs typeface="Tahoma"/>
            </a:endParaRPr>
          </a:p>
          <a:p>
            <a:pPr marL="12700" marR="5715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7.3: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Else,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vipRear-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&gt;next,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vipRear-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newNode,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[End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331B0D"/>
                </a:solidFill>
                <a:latin typeface="Tahoma"/>
                <a:cs typeface="Tahoma"/>
              </a:rPr>
              <a:t>If]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303" y="7792707"/>
            <a:ext cx="11181715" cy="18542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80"/>
              </a:spcBef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331B0D"/>
                </a:solidFill>
                <a:latin typeface="Tahoma"/>
                <a:cs typeface="Tahoma"/>
              </a:rPr>
              <a:t>8: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5">
                <a:solidFill>
                  <a:srgbClr val="331B0D"/>
                </a:solidFill>
                <a:latin typeface="Tahoma"/>
                <a:cs typeface="Tahoma"/>
              </a:rPr>
              <a:t>Else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(priority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331B0D"/>
                </a:solidFill>
                <a:latin typeface="Tahoma"/>
                <a:cs typeface="Tahoma"/>
              </a:rPr>
              <a:t>2,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0">
                <a:solidFill>
                  <a:srgbClr val="331B0D"/>
                </a:solidFill>
                <a:latin typeface="Tahoma"/>
                <a:cs typeface="Tahoma"/>
              </a:rPr>
              <a:t>Regular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Ticket):</a:t>
            </a:r>
            <a:endParaRPr sz="2600">
              <a:latin typeface="Tahoma"/>
              <a:cs typeface="Tahoma"/>
            </a:endParaRPr>
          </a:p>
          <a:p>
            <a:pPr algn="just" marL="12700" marR="5080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65">
                <a:solidFill>
                  <a:srgbClr val="331B0D"/>
                </a:solidFill>
                <a:latin typeface="Tahoma"/>
                <a:cs typeface="Tahoma"/>
              </a:rPr>
              <a:t>8.1: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NULL,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0">
                <a:solidFill>
                  <a:srgbClr val="331B0D"/>
                </a:solidFill>
                <a:latin typeface="Tahoma"/>
                <a:cs typeface="Tahoma"/>
              </a:rPr>
              <a:t>newNode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regRear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r>
              <a:rPr dirty="0" sz="2600" spc="-1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331B0D"/>
                </a:solidFill>
                <a:latin typeface="Tahoma"/>
                <a:cs typeface="Tahoma"/>
              </a:rPr>
              <a:t>8.2: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Else,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85">
                <a:solidFill>
                  <a:srgbClr val="331B0D"/>
                </a:solidFill>
                <a:latin typeface="Tahoma"/>
                <a:cs typeface="Tahoma"/>
              </a:rPr>
              <a:t>regRear-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0">
                <a:solidFill>
                  <a:srgbClr val="331B0D"/>
                </a:solidFill>
                <a:latin typeface="Tahoma"/>
                <a:cs typeface="Tahoma"/>
              </a:rPr>
              <a:t>newNode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regRear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r>
              <a:rPr dirty="0" sz="2600" spc="-1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[End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If]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303" y="9682543"/>
            <a:ext cx="2282825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13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331B0D"/>
                </a:solidFill>
                <a:latin typeface="Tahoma"/>
                <a:cs typeface="Tahoma"/>
              </a:rPr>
              <a:t>9: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Return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0837" y="0"/>
            <a:ext cx="4827162" cy="10286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112508" y="8986551"/>
            <a:ext cx="159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25">
                <a:solidFill>
                  <a:srgbClr val="331B0D"/>
                </a:solidFill>
                <a:latin typeface="Tahoma"/>
                <a:cs typeface="Tahoma"/>
              </a:rPr>
              <a:t>3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0303" y="934707"/>
            <a:ext cx="12343130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60755">
              <a:lnSpc>
                <a:spcPct val="115399"/>
              </a:lnSpc>
              <a:spcBef>
                <a:spcPts val="100"/>
              </a:spcBef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331B0D"/>
                </a:solidFill>
                <a:latin typeface="Tahoma"/>
                <a:cs typeface="Tahoma"/>
              </a:rPr>
              <a:t>5: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70">
                <a:solidFill>
                  <a:srgbClr val="331B0D"/>
                </a:solidFill>
                <a:latin typeface="Tahoma"/>
                <a:cs typeface="Tahoma"/>
              </a:rPr>
              <a:t>Allocate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0">
                <a:solidFill>
                  <a:srgbClr val="331B0D"/>
                </a:solidFill>
                <a:latin typeface="Tahoma"/>
                <a:cs typeface="Tahoma"/>
              </a:rPr>
              <a:t>memory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for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0">
                <a:solidFill>
                  <a:srgbClr val="331B0D"/>
                </a:solidFill>
                <a:latin typeface="Tahoma"/>
                <a:cs typeface="Tahoma"/>
              </a:rPr>
              <a:t>allocation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331B0D"/>
                </a:solidFill>
                <a:latin typeface="Tahoma"/>
                <a:cs typeface="Tahoma"/>
              </a:rPr>
              <a:t>fails,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5">
                <a:solidFill>
                  <a:srgbClr val="331B0D"/>
                </a:solidFill>
                <a:latin typeface="Tahoma"/>
                <a:cs typeface="Tahoma"/>
              </a:rPr>
              <a:t>"memory </a:t>
            </a:r>
            <a:r>
              <a:rPr dirty="0" sz="2600" spc="130">
                <a:solidFill>
                  <a:srgbClr val="331B0D"/>
                </a:solidFill>
                <a:latin typeface="Tahoma"/>
                <a:cs typeface="Tahoma"/>
              </a:rPr>
              <a:t>allocation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331B0D"/>
                </a:solidFill>
                <a:latin typeface="Tahoma"/>
                <a:cs typeface="Tahoma"/>
              </a:rPr>
              <a:t>failed"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exit.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213360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331B0D"/>
                </a:solidFill>
                <a:latin typeface="Tahoma"/>
                <a:cs typeface="Tahoma"/>
              </a:rPr>
              <a:t>6: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&gt;id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id,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&gt;name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name,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&gt;priority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64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50">
                <a:solidFill>
                  <a:srgbClr val="331B0D"/>
                </a:solidFill>
                <a:latin typeface="Tahoma"/>
                <a:cs typeface="Tahoma"/>
              </a:rPr>
              <a:t> priority,</a:t>
            </a:r>
            <a:r>
              <a:rPr dirty="0" sz="26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NULL.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1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7: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0">
                <a:solidFill>
                  <a:srgbClr val="331B0D"/>
                </a:solidFill>
                <a:latin typeface="Tahoma"/>
                <a:cs typeface="Tahoma"/>
              </a:rPr>
              <a:t>priority</a:t>
            </a:r>
            <a:r>
              <a:rPr dirty="0" sz="26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15">
                <a:solidFill>
                  <a:srgbClr val="331B0D"/>
                </a:solidFill>
                <a:latin typeface="Tahoma"/>
                <a:cs typeface="Tahoma"/>
              </a:rPr>
              <a:t>1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(VIP</a:t>
            </a:r>
            <a:r>
              <a:rPr dirty="0" sz="26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Ticket),</a:t>
            </a:r>
            <a:r>
              <a:rPr dirty="0" sz="26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then:</a:t>
            </a:r>
            <a:endParaRPr sz="2600">
              <a:latin typeface="Tahoma"/>
              <a:cs typeface="Tahoma"/>
            </a:endParaRPr>
          </a:p>
          <a:p>
            <a:pPr marL="12700" marR="355600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95">
                <a:solidFill>
                  <a:srgbClr val="331B0D"/>
                </a:solidFill>
                <a:latin typeface="Tahoma"/>
                <a:cs typeface="Tahoma"/>
              </a:rPr>
              <a:t>7.1: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NULL,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00">
                <a:solidFill>
                  <a:srgbClr val="331B0D"/>
                </a:solidFill>
                <a:latin typeface="Tahoma"/>
                <a:cs typeface="Tahoma"/>
              </a:rPr>
              <a:t>then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newNode,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newNode,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and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regRear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endParaRPr sz="2600">
              <a:latin typeface="Tahoma"/>
              <a:cs typeface="Tahoma"/>
            </a:endParaRPr>
          </a:p>
          <a:p>
            <a:pPr marL="12700" marR="6350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331B0D"/>
                </a:solidFill>
                <a:latin typeface="Tahoma"/>
                <a:cs typeface="Tahoma"/>
              </a:rPr>
              <a:t>7.2: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5">
                <a:solidFill>
                  <a:srgbClr val="331B0D"/>
                </a:solidFill>
                <a:latin typeface="Tahoma"/>
                <a:cs typeface="Tahoma"/>
              </a:rPr>
              <a:t>Else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NULL,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331B0D"/>
                </a:solidFill>
                <a:latin typeface="Tahoma"/>
                <a:cs typeface="Tahoma"/>
              </a:rPr>
              <a:t>head,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newNode,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endParaRPr sz="2600">
              <a:latin typeface="Tahoma"/>
              <a:cs typeface="Tahoma"/>
            </a:endParaRPr>
          </a:p>
          <a:p>
            <a:pPr marL="12700" marR="5715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7.3: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Else,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newNode-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vipRear-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&gt;next,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vipRear-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newNode,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[End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331B0D"/>
                </a:solidFill>
                <a:latin typeface="Tahoma"/>
                <a:cs typeface="Tahoma"/>
              </a:rPr>
              <a:t>If]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303" y="7792707"/>
            <a:ext cx="11181715" cy="18542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80"/>
              </a:spcBef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331B0D"/>
                </a:solidFill>
                <a:latin typeface="Tahoma"/>
                <a:cs typeface="Tahoma"/>
              </a:rPr>
              <a:t>8: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5">
                <a:solidFill>
                  <a:srgbClr val="331B0D"/>
                </a:solidFill>
                <a:latin typeface="Tahoma"/>
                <a:cs typeface="Tahoma"/>
              </a:rPr>
              <a:t>Else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(priority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331B0D"/>
                </a:solidFill>
                <a:latin typeface="Tahoma"/>
                <a:cs typeface="Tahoma"/>
              </a:rPr>
              <a:t>2,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0">
                <a:solidFill>
                  <a:srgbClr val="331B0D"/>
                </a:solidFill>
                <a:latin typeface="Tahoma"/>
                <a:cs typeface="Tahoma"/>
              </a:rPr>
              <a:t>Regular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Ticket):</a:t>
            </a:r>
            <a:endParaRPr sz="2600">
              <a:latin typeface="Tahoma"/>
              <a:cs typeface="Tahoma"/>
            </a:endParaRPr>
          </a:p>
          <a:p>
            <a:pPr algn="just" marL="12700" marR="5080">
              <a:lnSpc>
                <a:spcPct val="1153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65">
                <a:solidFill>
                  <a:srgbClr val="331B0D"/>
                </a:solidFill>
                <a:latin typeface="Tahoma"/>
                <a:cs typeface="Tahoma"/>
              </a:rPr>
              <a:t>8.1: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NULL,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0">
                <a:solidFill>
                  <a:srgbClr val="331B0D"/>
                </a:solidFill>
                <a:latin typeface="Tahoma"/>
                <a:cs typeface="Tahoma"/>
              </a:rPr>
              <a:t>newNode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regRear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r>
              <a:rPr dirty="0" sz="2600" spc="-1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331B0D"/>
                </a:solidFill>
                <a:latin typeface="Tahoma"/>
                <a:cs typeface="Tahoma"/>
              </a:rPr>
              <a:t>8.2: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Else,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85">
                <a:solidFill>
                  <a:srgbClr val="331B0D"/>
                </a:solidFill>
                <a:latin typeface="Tahoma"/>
                <a:cs typeface="Tahoma"/>
              </a:rPr>
              <a:t>regRear-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&gt;next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0">
                <a:solidFill>
                  <a:srgbClr val="331B0D"/>
                </a:solidFill>
                <a:latin typeface="Tahoma"/>
                <a:cs typeface="Tahoma"/>
              </a:rPr>
              <a:t>newNode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regRear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331B0D"/>
                </a:solidFill>
                <a:latin typeface="Tahoma"/>
                <a:cs typeface="Tahoma"/>
              </a:rPr>
              <a:t>newNode.</a:t>
            </a:r>
            <a:r>
              <a:rPr dirty="0" sz="2600" spc="-1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[End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If]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303" y="9682543"/>
            <a:ext cx="2282825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13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331B0D"/>
                </a:solidFill>
                <a:latin typeface="Tahoma"/>
                <a:cs typeface="Tahoma"/>
              </a:rPr>
              <a:t>9: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Return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0837" y="0"/>
            <a:ext cx="4827162" cy="10286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112508" y="8986551"/>
            <a:ext cx="159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25">
                <a:solidFill>
                  <a:srgbClr val="331B0D"/>
                </a:solidFill>
                <a:latin typeface="Tahoma"/>
                <a:cs typeface="Tahoma"/>
              </a:rPr>
              <a:t>3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0303" y="1005871"/>
            <a:ext cx="7272655" cy="730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8B7753"/>
                </a:solidFill>
                <a:latin typeface="Tahoma"/>
                <a:cs typeface="Tahoma"/>
              </a:rPr>
              <a:t>2.</a:t>
            </a:r>
            <a:r>
              <a:rPr dirty="0" sz="2800" spc="-6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8B7753"/>
                </a:solidFill>
                <a:latin typeface="Tahoma"/>
                <a:cs typeface="Tahoma"/>
              </a:rPr>
              <a:t>Algorithm</a:t>
            </a:r>
            <a:r>
              <a:rPr dirty="0" sz="2800" spc="-6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8B7753"/>
                </a:solidFill>
                <a:latin typeface="Tahoma"/>
                <a:cs typeface="Tahoma"/>
              </a:rPr>
              <a:t>for</a:t>
            </a:r>
            <a:r>
              <a:rPr dirty="0" sz="2800" spc="-6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8B7753"/>
                </a:solidFill>
                <a:latin typeface="Tahoma"/>
                <a:cs typeface="Tahoma"/>
              </a:rPr>
              <a:t>process()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60">
                <a:solidFill>
                  <a:srgbClr val="331B0D"/>
                </a:solidFill>
                <a:latin typeface="Tahoma"/>
                <a:cs typeface="Tahoma"/>
              </a:rPr>
              <a:t>1: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NULL,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then: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"no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ticket</a:t>
            </a:r>
            <a:r>
              <a:rPr dirty="0" sz="2600" spc="-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331B0D"/>
                </a:solidFill>
                <a:latin typeface="Tahoma"/>
                <a:cs typeface="Tahoma"/>
              </a:rPr>
              <a:t>to</a:t>
            </a:r>
            <a:r>
              <a:rPr dirty="0" sz="26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65">
                <a:solidFill>
                  <a:srgbClr val="331B0D"/>
                </a:solidFill>
                <a:latin typeface="Tahoma"/>
                <a:cs typeface="Tahoma"/>
              </a:rPr>
              <a:t>process"</a:t>
            </a:r>
            <a:endParaRPr sz="2600">
              <a:latin typeface="Tahoma"/>
              <a:cs typeface="Tahoma"/>
            </a:endParaRPr>
          </a:p>
          <a:p>
            <a:pPr marL="12700" marR="5715635">
              <a:lnSpc>
                <a:spcPct val="115399"/>
              </a:lnSpc>
            </a:pP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Return [End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10">
                <a:solidFill>
                  <a:srgbClr val="331B0D"/>
                </a:solidFill>
                <a:latin typeface="Tahoma"/>
                <a:cs typeface="Tahoma"/>
              </a:rPr>
              <a:t>If]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0">
                <a:solidFill>
                  <a:srgbClr val="331B0D"/>
                </a:solidFill>
                <a:latin typeface="Tahoma"/>
                <a:cs typeface="Tahoma"/>
              </a:rPr>
              <a:t>2: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0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331B0D"/>
                </a:solidFill>
                <a:latin typeface="Tahoma"/>
                <a:cs typeface="Tahoma"/>
              </a:rPr>
              <a:t>head.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230799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1B0D"/>
                </a:solidFill>
                <a:latin typeface="Tahoma"/>
                <a:cs typeface="Tahoma"/>
              </a:rPr>
              <a:t>3: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0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0">
                <a:solidFill>
                  <a:srgbClr val="331B0D"/>
                </a:solidFill>
                <a:latin typeface="Tahoma"/>
                <a:cs typeface="Tahoma"/>
              </a:rPr>
              <a:t>vipRear,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vipRear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NULL. </a:t>
            </a: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331B0D"/>
                </a:solidFill>
                <a:latin typeface="Tahoma"/>
                <a:cs typeface="Tahoma"/>
              </a:rPr>
              <a:t>4: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0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regRear,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85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regRear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NULL. </a:t>
            </a: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331B0D"/>
                </a:solidFill>
                <a:latin typeface="Tahoma"/>
                <a:cs typeface="Tahoma"/>
              </a:rPr>
              <a:t>5:</a:t>
            </a:r>
            <a:r>
              <a:rPr dirty="0" sz="26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6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6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590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10">
                <a:solidFill>
                  <a:srgbClr val="331B0D"/>
                </a:solidFill>
                <a:latin typeface="Tahoma"/>
                <a:cs typeface="Tahoma"/>
              </a:rPr>
              <a:t>head-</a:t>
            </a:r>
            <a:r>
              <a:rPr dirty="0" sz="2600" spc="-10">
                <a:solidFill>
                  <a:srgbClr val="331B0D"/>
                </a:solidFill>
                <a:latin typeface="Tahoma"/>
                <a:cs typeface="Tahoma"/>
              </a:rPr>
              <a:t>&gt;next.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331B0D"/>
                </a:solidFill>
                <a:latin typeface="Tahoma"/>
                <a:cs typeface="Tahoma"/>
              </a:rPr>
              <a:t>6: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Free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0">
                <a:solidFill>
                  <a:srgbClr val="331B0D"/>
                </a:solidFill>
                <a:latin typeface="Tahoma"/>
                <a:cs typeface="Tahoma"/>
              </a:rPr>
              <a:t>memory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60">
                <a:solidFill>
                  <a:srgbClr val="331B0D"/>
                </a:solidFill>
                <a:latin typeface="Tahoma"/>
                <a:cs typeface="Tahoma"/>
              </a:rPr>
              <a:t>allocated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331B0D"/>
                </a:solidFill>
                <a:latin typeface="Tahoma"/>
                <a:cs typeface="Tahoma"/>
              </a:rPr>
              <a:t>for</a:t>
            </a:r>
            <a:r>
              <a:rPr dirty="0" sz="26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331B0D"/>
                </a:solidFill>
                <a:latin typeface="Tahoma"/>
                <a:cs typeface="Tahoma"/>
              </a:rPr>
              <a:t>temp.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303" y="8803703"/>
            <a:ext cx="63309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7: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6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65">
                <a:solidFill>
                  <a:srgbClr val="331B0D"/>
                </a:solidFill>
                <a:latin typeface="Tahoma"/>
                <a:cs typeface="Tahoma"/>
              </a:rPr>
              <a:t>"successfully</a:t>
            </a:r>
            <a:r>
              <a:rPr dirty="0" sz="26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331B0D"/>
                </a:solidFill>
                <a:latin typeface="Tahoma"/>
                <a:cs typeface="Tahoma"/>
              </a:rPr>
              <a:t>processed".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303" y="9718103"/>
            <a:ext cx="2281555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190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331B0D"/>
                </a:solidFill>
                <a:latin typeface="Tahoma"/>
                <a:cs typeface="Tahoma"/>
              </a:rPr>
              <a:t>8:</a:t>
            </a:r>
            <a:r>
              <a:rPr dirty="0" sz="2600" spc="-12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1B0D"/>
                </a:solidFill>
                <a:latin typeface="Tahoma"/>
                <a:cs typeface="Tahoma"/>
              </a:rPr>
              <a:t>Return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898" y="0"/>
            <a:ext cx="7562101" cy="10286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112508" y="8986551"/>
            <a:ext cx="159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25">
                <a:solidFill>
                  <a:srgbClr val="331B0D"/>
                </a:solidFill>
                <a:latin typeface="Tahoma"/>
                <a:cs typeface="Tahoma"/>
              </a:rPr>
              <a:t>3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0303" y="1005871"/>
            <a:ext cx="53562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55">
                <a:solidFill>
                  <a:srgbClr val="8B7753"/>
                </a:solidFill>
                <a:latin typeface="Tahoma"/>
                <a:cs typeface="Tahoma"/>
              </a:rPr>
              <a:t>3.</a:t>
            </a:r>
            <a:r>
              <a:rPr dirty="0" sz="2800" spc="-9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8B7753"/>
                </a:solidFill>
                <a:latin typeface="Tahoma"/>
                <a:cs typeface="Tahoma"/>
              </a:rPr>
              <a:t>Algorithm</a:t>
            </a:r>
            <a:r>
              <a:rPr dirty="0" sz="2800" spc="-85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8B7753"/>
                </a:solidFill>
                <a:latin typeface="Tahoma"/>
                <a:cs typeface="Tahoma"/>
              </a:rPr>
              <a:t>for</a:t>
            </a:r>
            <a:r>
              <a:rPr dirty="0" sz="2800" spc="-85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8B7753"/>
                </a:solidFill>
                <a:latin typeface="Tahoma"/>
                <a:cs typeface="Tahoma"/>
              </a:rPr>
              <a:t>displayQueue()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303" y="1927853"/>
            <a:ext cx="9677400" cy="74549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375">
                <a:solidFill>
                  <a:srgbClr val="331B0D"/>
                </a:solidFill>
                <a:latin typeface="Tahoma"/>
                <a:cs typeface="Tahoma"/>
              </a:rPr>
              <a:t>1: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3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65">
                <a:solidFill>
                  <a:srgbClr val="331B0D"/>
                </a:solidFill>
                <a:latin typeface="Tahoma"/>
                <a:cs typeface="Tahoma"/>
              </a:rPr>
              <a:t>NULL,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then: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135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30">
                <a:solidFill>
                  <a:srgbClr val="331B0D"/>
                </a:solidFill>
                <a:latin typeface="Tahoma"/>
                <a:cs typeface="Tahoma"/>
              </a:rPr>
              <a:t>"Queue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45">
                <a:solidFill>
                  <a:srgbClr val="331B0D"/>
                </a:solidFill>
                <a:latin typeface="Tahoma"/>
                <a:cs typeface="Tahoma"/>
              </a:rPr>
              <a:t>is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empty"</a:t>
            </a:r>
            <a:endParaRPr sz="2800">
              <a:latin typeface="Tahoma"/>
              <a:cs typeface="Tahoma"/>
            </a:endParaRPr>
          </a:p>
          <a:p>
            <a:pPr marL="12700" marR="8002270">
              <a:lnSpc>
                <a:spcPct val="116100"/>
              </a:lnSpc>
            </a:pPr>
            <a:r>
              <a:rPr dirty="0" sz="2800" spc="60">
                <a:solidFill>
                  <a:srgbClr val="331B0D"/>
                </a:solidFill>
                <a:latin typeface="Tahoma"/>
                <a:cs typeface="Tahoma"/>
              </a:rPr>
              <a:t>Return </a:t>
            </a:r>
            <a:r>
              <a:rPr dirty="0" sz="2800" spc="65">
                <a:solidFill>
                  <a:srgbClr val="331B0D"/>
                </a:solidFill>
                <a:latin typeface="Tahoma"/>
                <a:cs typeface="Tahoma"/>
              </a:rPr>
              <a:t>[End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5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25">
                <a:solidFill>
                  <a:srgbClr val="331B0D"/>
                </a:solidFill>
                <a:latin typeface="Tahoma"/>
                <a:cs typeface="Tahoma"/>
              </a:rPr>
              <a:t>If]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1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35">
                <a:solidFill>
                  <a:srgbClr val="331B0D"/>
                </a:solidFill>
                <a:latin typeface="Tahoma"/>
                <a:cs typeface="Tahoma"/>
              </a:rPr>
              <a:t>2: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0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wait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35">
                <a:solidFill>
                  <a:srgbClr val="331B0D"/>
                </a:solidFill>
                <a:latin typeface="Tahoma"/>
                <a:cs typeface="Tahoma"/>
              </a:rPr>
              <a:t>0.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3: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45">
                <a:solidFill>
                  <a:srgbClr val="331B0D"/>
                </a:solidFill>
                <a:latin typeface="Tahoma"/>
                <a:cs typeface="Tahoma"/>
              </a:rPr>
              <a:t>Display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45">
                <a:solidFill>
                  <a:srgbClr val="331B0D"/>
                </a:solidFill>
                <a:latin typeface="Tahoma"/>
                <a:cs typeface="Tahoma"/>
              </a:rPr>
              <a:t>table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331B0D"/>
                </a:solidFill>
                <a:latin typeface="Tahoma"/>
                <a:cs typeface="Tahoma"/>
              </a:rPr>
              <a:t>headers: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10">
                <a:solidFill>
                  <a:srgbClr val="331B0D"/>
                </a:solidFill>
                <a:latin typeface="Tahoma"/>
                <a:cs typeface="Tahoma"/>
              </a:rPr>
              <a:t>ID,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Name,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331B0D"/>
                </a:solidFill>
                <a:latin typeface="Tahoma"/>
                <a:cs typeface="Tahoma"/>
              </a:rPr>
              <a:t>Priority,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331B0D"/>
                </a:solidFill>
                <a:latin typeface="Tahoma"/>
                <a:cs typeface="Tahoma"/>
              </a:rPr>
              <a:t>Waiting </a:t>
            </a:r>
            <a:r>
              <a:rPr dirty="0" sz="2800" spc="90">
                <a:solidFill>
                  <a:srgbClr val="331B0D"/>
                </a:solidFill>
                <a:latin typeface="Tahoma"/>
                <a:cs typeface="Tahoma"/>
              </a:rPr>
              <a:t>position.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14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4:</a:t>
            </a:r>
            <a:r>
              <a:rPr dirty="0" sz="28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Repeat</a:t>
            </a:r>
            <a:r>
              <a:rPr dirty="0" sz="28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331B0D"/>
                </a:solidFill>
                <a:latin typeface="Tahoma"/>
                <a:cs typeface="Tahoma"/>
              </a:rPr>
              <a:t>while</a:t>
            </a:r>
            <a:r>
              <a:rPr dirty="0" sz="28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8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430">
                <a:solidFill>
                  <a:srgbClr val="331B0D"/>
                </a:solidFill>
                <a:latin typeface="Tahoma"/>
                <a:cs typeface="Tahoma"/>
              </a:rPr>
              <a:t>!=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NULL: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65">
                <a:solidFill>
                  <a:srgbClr val="331B0D"/>
                </a:solidFill>
                <a:latin typeface="Tahoma"/>
                <a:cs typeface="Tahoma"/>
              </a:rPr>
              <a:t>4.1: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331B0D"/>
                </a:solidFill>
                <a:latin typeface="Tahoma"/>
                <a:cs typeface="Tahoma"/>
              </a:rPr>
              <a:t>Print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&gt;id </a:t>
            </a:r>
            <a:r>
              <a:rPr dirty="0" sz="2800" spc="125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&gt;name.</a:t>
            </a:r>
            <a:endParaRPr sz="2800">
              <a:latin typeface="Tahoma"/>
              <a:cs typeface="Tahoma"/>
            </a:endParaRPr>
          </a:p>
          <a:p>
            <a:pPr marL="12700" marR="1097915">
              <a:lnSpc>
                <a:spcPct val="116100"/>
              </a:lnSpc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4.2: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3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&gt;priority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20">
                <a:solidFill>
                  <a:srgbClr val="331B0D"/>
                </a:solidFill>
                <a:latin typeface="Tahoma"/>
                <a:cs typeface="Tahoma"/>
              </a:rPr>
              <a:t>1,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50">
                <a:solidFill>
                  <a:srgbClr val="331B0D"/>
                </a:solidFill>
                <a:latin typeface="Tahoma"/>
                <a:cs typeface="Tahoma"/>
              </a:rPr>
              <a:t>print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55">
                <a:solidFill>
                  <a:srgbClr val="331B0D"/>
                </a:solidFill>
                <a:latin typeface="Tahoma"/>
                <a:cs typeface="Tahoma"/>
              </a:rPr>
              <a:t>"VIP";</a:t>
            </a:r>
            <a:r>
              <a:rPr dirty="0" sz="2800" spc="-8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45">
                <a:solidFill>
                  <a:srgbClr val="331B0D"/>
                </a:solidFill>
                <a:latin typeface="Tahoma"/>
                <a:cs typeface="Tahoma"/>
              </a:rPr>
              <a:t>else</a:t>
            </a:r>
            <a:r>
              <a:rPr dirty="0" sz="28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40">
                <a:solidFill>
                  <a:srgbClr val="331B0D"/>
                </a:solidFill>
                <a:latin typeface="Tahoma"/>
                <a:cs typeface="Tahoma"/>
              </a:rPr>
              <a:t>print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"Regular".</a:t>
            </a:r>
            <a:endParaRPr sz="2800">
              <a:latin typeface="Tahoma"/>
              <a:cs typeface="Tahoma"/>
            </a:endParaRPr>
          </a:p>
          <a:p>
            <a:pPr marL="12700" marR="2790825">
              <a:lnSpc>
                <a:spcPct val="116100"/>
              </a:lnSpc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4.3:</a:t>
            </a:r>
            <a:r>
              <a:rPr dirty="0" sz="28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331B0D"/>
                </a:solidFill>
                <a:latin typeface="Tahoma"/>
                <a:cs typeface="Tahoma"/>
              </a:rPr>
              <a:t>Print</a:t>
            </a:r>
            <a:r>
              <a:rPr dirty="0" sz="28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331B0D"/>
                </a:solidFill>
                <a:latin typeface="Tahoma"/>
                <a:cs typeface="Tahoma"/>
              </a:rPr>
              <a:t>waiting</a:t>
            </a:r>
            <a:r>
              <a:rPr dirty="0" sz="28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35">
                <a:solidFill>
                  <a:srgbClr val="331B0D"/>
                </a:solidFill>
                <a:latin typeface="Tahoma"/>
                <a:cs typeface="Tahoma"/>
              </a:rPr>
              <a:t>position</a:t>
            </a:r>
            <a:r>
              <a:rPr dirty="0" sz="28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(wait</a:t>
            </a:r>
            <a:r>
              <a:rPr dirty="0" sz="28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65">
                <a:solidFill>
                  <a:srgbClr val="331B0D"/>
                </a:solidFill>
                <a:latin typeface="Tahoma"/>
                <a:cs typeface="Tahoma"/>
              </a:rPr>
              <a:t>+</a:t>
            </a:r>
            <a:r>
              <a:rPr dirty="0" sz="28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80">
                <a:solidFill>
                  <a:srgbClr val="331B0D"/>
                </a:solidFill>
                <a:latin typeface="Tahoma"/>
                <a:cs typeface="Tahoma"/>
              </a:rPr>
              <a:t>1). </a:t>
            </a: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4.4: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0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wait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wait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65">
                <a:solidFill>
                  <a:srgbClr val="331B0D"/>
                </a:solidFill>
                <a:latin typeface="Tahoma"/>
                <a:cs typeface="Tahoma"/>
              </a:rPr>
              <a:t>+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85">
                <a:solidFill>
                  <a:srgbClr val="331B0D"/>
                </a:solidFill>
                <a:latin typeface="Tahoma"/>
                <a:cs typeface="Tahoma"/>
              </a:rPr>
              <a:t>1.</a:t>
            </a:r>
            <a:endParaRPr sz="2800">
              <a:latin typeface="Tahoma"/>
              <a:cs typeface="Tahoma"/>
            </a:endParaRPr>
          </a:p>
          <a:p>
            <a:pPr marL="12700" marR="4027804">
              <a:lnSpc>
                <a:spcPct val="116100"/>
              </a:lnSpc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4.5: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0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&gt;next. </a:t>
            </a:r>
            <a:r>
              <a:rPr dirty="0" sz="2800" spc="65">
                <a:solidFill>
                  <a:srgbClr val="331B0D"/>
                </a:solidFill>
                <a:latin typeface="Tahoma"/>
                <a:cs typeface="Tahoma"/>
              </a:rPr>
              <a:t>[End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5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331B0D"/>
                </a:solidFill>
                <a:latin typeface="Tahoma"/>
                <a:cs typeface="Tahoma"/>
              </a:rPr>
              <a:t>Loop]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303" y="9425971"/>
            <a:ext cx="2454910" cy="46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331B0D"/>
                </a:solidFill>
                <a:latin typeface="Tahoma"/>
                <a:cs typeface="Tahoma"/>
              </a:rPr>
              <a:t>5:</a:t>
            </a:r>
            <a:r>
              <a:rPr dirty="0" sz="2800" spc="-1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331B0D"/>
                </a:solidFill>
                <a:latin typeface="Tahoma"/>
                <a:cs typeface="Tahoma"/>
              </a:rPr>
              <a:t>Return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898" y="0"/>
            <a:ext cx="7562101" cy="10286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112508" y="8986551"/>
            <a:ext cx="159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25">
                <a:solidFill>
                  <a:srgbClr val="331B0D"/>
                </a:solidFill>
                <a:latin typeface="Tahoma"/>
                <a:cs typeface="Tahoma"/>
              </a:rPr>
              <a:t>3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0303" y="-37465"/>
            <a:ext cx="286829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974" y="708692"/>
            <a:ext cx="11618595" cy="788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55">
                <a:solidFill>
                  <a:srgbClr val="8B7753"/>
                </a:solidFill>
                <a:latin typeface="Tahoma"/>
                <a:cs typeface="Tahoma"/>
              </a:rPr>
              <a:t>4.</a:t>
            </a:r>
            <a:r>
              <a:rPr dirty="0" sz="2800" spc="-9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8B7753"/>
                </a:solidFill>
                <a:latin typeface="Tahoma"/>
                <a:cs typeface="Tahoma"/>
              </a:rPr>
              <a:t>Algorithm</a:t>
            </a:r>
            <a:r>
              <a:rPr dirty="0" sz="2800" spc="-85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8B7753"/>
                </a:solidFill>
                <a:latin typeface="Tahoma"/>
                <a:cs typeface="Tahoma"/>
              </a:rPr>
              <a:t>for</a:t>
            </a:r>
            <a:r>
              <a:rPr dirty="0" sz="2800" spc="-85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800" spc="110">
                <a:solidFill>
                  <a:srgbClr val="8B7753"/>
                </a:solidFill>
                <a:latin typeface="Tahoma"/>
                <a:cs typeface="Tahoma"/>
              </a:rPr>
              <a:t>checkTicketStatus()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2800">
              <a:latin typeface="Tahoma"/>
              <a:cs typeface="Tahoma"/>
            </a:endParaRPr>
          </a:p>
          <a:p>
            <a:pPr marL="12700" marR="5233035">
              <a:lnSpc>
                <a:spcPct val="116100"/>
              </a:lnSpc>
              <a:spcBef>
                <a:spcPts val="5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375">
                <a:solidFill>
                  <a:srgbClr val="331B0D"/>
                </a:solidFill>
                <a:latin typeface="Tahoma"/>
                <a:cs typeface="Tahoma"/>
              </a:rPr>
              <a:t>1: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Read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75">
                <a:solidFill>
                  <a:srgbClr val="331B0D"/>
                </a:solidFill>
                <a:latin typeface="Tahoma"/>
                <a:cs typeface="Tahoma"/>
              </a:rPr>
              <a:t>search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331B0D"/>
                </a:solidFill>
                <a:latin typeface="Tahoma"/>
                <a:cs typeface="Tahoma"/>
              </a:rPr>
              <a:t>id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10">
                <a:solidFill>
                  <a:srgbClr val="331B0D"/>
                </a:solidFill>
                <a:latin typeface="Tahoma"/>
                <a:cs typeface="Tahoma"/>
              </a:rPr>
              <a:t>from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331B0D"/>
                </a:solidFill>
                <a:latin typeface="Tahoma"/>
                <a:cs typeface="Tahoma"/>
              </a:rPr>
              <a:t>the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331B0D"/>
                </a:solidFill>
                <a:latin typeface="Tahoma"/>
                <a:cs typeface="Tahoma"/>
              </a:rPr>
              <a:t>user. </a:t>
            </a: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1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35">
                <a:solidFill>
                  <a:srgbClr val="331B0D"/>
                </a:solidFill>
                <a:latin typeface="Tahoma"/>
                <a:cs typeface="Tahoma"/>
              </a:rPr>
              <a:t>2: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0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head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5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wait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35">
                <a:solidFill>
                  <a:srgbClr val="331B0D"/>
                </a:solidFill>
                <a:latin typeface="Tahoma"/>
                <a:cs typeface="Tahoma"/>
              </a:rPr>
              <a:t>0.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14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3:</a:t>
            </a:r>
            <a:r>
              <a:rPr dirty="0" sz="28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Repeat</a:t>
            </a:r>
            <a:r>
              <a:rPr dirty="0" sz="28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331B0D"/>
                </a:solidFill>
                <a:latin typeface="Tahoma"/>
                <a:cs typeface="Tahoma"/>
              </a:rPr>
              <a:t>while</a:t>
            </a:r>
            <a:r>
              <a:rPr dirty="0" sz="28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800" spc="-10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430">
                <a:solidFill>
                  <a:srgbClr val="331B0D"/>
                </a:solidFill>
                <a:latin typeface="Tahoma"/>
                <a:cs typeface="Tahoma"/>
              </a:rPr>
              <a:t>!=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NULL: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65">
                <a:solidFill>
                  <a:srgbClr val="331B0D"/>
                </a:solidFill>
                <a:latin typeface="Tahoma"/>
                <a:cs typeface="Tahoma"/>
              </a:rPr>
              <a:t>3.1:</a:t>
            </a:r>
            <a:r>
              <a:rPr dirty="0" sz="28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3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8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&gt;id</a:t>
            </a:r>
            <a:r>
              <a:rPr dirty="0" sz="28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id,</a:t>
            </a:r>
            <a:r>
              <a:rPr dirty="0" sz="2800" spc="-7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then: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135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331B0D"/>
                </a:solidFill>
                <a:latin typeface="Tahoma"/>
                <a:cs typeface="Tahoma"/>
              </a:rPr>
              <a:t>"Ticket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0">
                <a:solidFill>
                  <a:srgbClr val="331B0D"/>
                </a:solidFill>
                <a:latin typeface="Tahoma"/>
                <a:cs typeface="Tahoma"/>
              </a:rPr>
              <a:t>Found"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40">
                <a:solidFill>
                  <a:srgbClr val="331B0D"/>
                </a:solidFill>
                <a:latin typeface="Tahoma"/>
                <a:cs typeface="Tahoma"/>
              </a:rPr>
              <a:t>along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75">
                <a:solidFill>
                  <a:srgbClr val="331B0D"/>
                </a:solidFill>
                <a:latin typeface="Tahoma"/>
                <a:cs typeface="Tahoma"/>
              </a:rPr>
              <a:t>with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&gt;id </a:t>
            </a:r>
            <a:r>
              <a:rPr dirty="0" sz="2800" spc="125">
                <a:solidFill>
                  <a:srgbClr val="331B0D"/>
                </a:solidFill>
                <a:latin typeface="Tahoma"/>
                <a:cs typeface="Tahoma"/>
              </a:rPr>
              <a:t>and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&gt;name.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</a:pPr>
            <a:r>
              <a:rPr dirty="0" sz="2800" spc="-13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8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&gt;priority</a:t>
            </a:r>
            <a:r>
              <a:rPr dirty="0" sz="28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20">
                <a:solidFill>
                  <a:srgbClr val="331B0D"/>
                </a:solidFill>
                <a:latin typeface="Tahoma"/>
                <a:cs typeface="Tahoma"/>
              </a:rPr>
              <a:t>1,</a:t>
            </a:r>
            <a:r>
              <a:rPr dirty="0" sz="28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8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"Priority:</a:t>
            </a:r>
            <a:r>
              <a:rPr dirty="0" sz="28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30">
                <a:solidFill>
                  <a:srgbClr val="331B0D"/>
                </a:solidFill>
                <a:latin typeface="Tahoma"/>
                <a:cs typeface="Tahoma"/>
              </a:rPr>
              <a:t>VIP";</a:t>
            </a:r>
            <a:r>
              <a:rPr dirty="0" sz="28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45">
                <a:solidFill>
                  <a:srgbClr val="331B0D"/>
                </a:solidFill>
                <a:latin typeface="Tahoma"/>
                <a:cs typeface="Tahoma"/>
              </a:rPr>
              <a:t>else</a:t>
            </a:r>
            <a:r>
              <a:rPr dirty="0" sz="28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8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"Priority:</a:t>
            </a:r>
            <a:r>
              <a:rPr dirty="0" sz="28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45">
                <a:solidFill>
                  <a:srgbClr val="331B0D"/>
                </a:solidFill>
                <a:latin typeface="Tahoma"/>
                <a:cs typeface="Tahoma"/>
              </a:rPr>
              <a:t>Regular". </a:t>
            </a:r>
            <a:r>
              <a:rPr dirty="0" sz="2800" spc="-135">
                <a:solidFill>
                  <a:srgbClr val="331B0D"/>
                </a:solidFill>
                <a:latin typeface="Tahoma"/>
                <a:cs typeface="Tahoma"/>
              </a:rPr>
              <a:t>If</a:t>
            </a:r>
            <a:r>
              <a:rPr dirty="0" sz="2800" spc="-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wait</a:t>
            </a:r>
            <a:r>
              <a:rPr dirty="0" sz="2800" spc="-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331B0D"/>
                </a:solidFill>
                <a:latin typeface="Tahoma"/>
                <a:cs typeface="Tahoma"/>
              </a:rPr>
              <a:t>0,</a:t>
            </a:r>
            <a:r>
              <a:rPr dirty="0" sz="2800" spc="-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800" spc="-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"Status:</a:t>
            </a:r>
            <a:r>
              <a:rPr dirty="0" sz="2800" spc="-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40">
                <a:solidFill>
                  <a:srgbClr val="331B0D"/>
                </a:solidFill>
                <a:latin typeface="Tahoma"/>
                <a:cs typeface="Tahoma"/>
              </a:rPr>
              <a:t>Next</a:t>
            </a:r>
            <a:r>
              <a:rPr dirty="0" sz="2800" spc="-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in</a:t>
            </a:r>
            <a:r>
              <a:rPr dirty="0" sz="2800" spc="-4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line!".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2800" spc="210">
                <a:solidFill>
                  <a:srgbClr val="331B0D"/>
                </a:solidFill>
                <a:latin typeface="Tahoma"/>
                <a:cs typeface="Tahoma"/>
              </a:rPr>
              <a:t>Else</a:t>
            </a:r>
            <a:r>
              <a:rPr dirty="0" sz="2800" spc="-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800" spc="-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"Status:</a:t>
            </a:r>
            <a:r>
              <a:rPr dirty="0" sz="2800" spc="-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331B0D"/>
                </a:solidFill>
                <a:latin typeface="Tahoma"/>
                <a:cs typeface="Tahoma"/>
              </a:rPr>
              <a:t>Waiting</a:t>
            </a:r>
            <a:r>
              <a:rPr dirty="0" sz="2800" spc="-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(wait</a:t>
            </a:r>
            <a:r>
              <a:rPr dirty="0" sz="2800" spc="-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15">
                <a:solidFill>
                  <a:srgbClr val="331B0D"/>
                </a:solidFill>
                <a:latin typeface="Tahoma"/>
                <a:cs typeface="Tahoma"/>
              </a:rPr>
              <a:t>people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ahead)".</a:t>
            </a:r>
            <a:endParaRPr sz="2800">
              <a:latin typeface="Tahoma"/>
              <a:cs typeface="Tahoma"/>
            </a:endParaRPr>
          </a:p>
          <a:p>
            <a:pPr marL="12700" marR="9943465">
              <a:lnSpc>
                <a:spcPct val="116100"/>
              </a:lnSpc>
            </a:pPr>
            <a:r>
              <a:rPr dirty="0" sz="2800" spc="60">
                <a:solidFill>
                  <a:srgbClr val="331B0D"/>
                </a:solidFill>
                <a:latin typeface="Tahoma"/>
                <a:cs typeface="Tahoma"/>
              </a:rPr>
              <a:t>Return </a:t>
            </a:r>
            <a:r>
              <a:rPr dirty="0" sz="2800" spc="65">
                <a:solidFill>
                  <a:srgbClr val="331B0D"/>
                </a:solidFill>
                <a:latin typeface="Tahoma"/>
                <a:cs typeface="Tahoma"/>
              </a:rPr>
              <a:t>[End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5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25">
                <a:solidFill>
                  <a:srgbClr val="331B0D"/>
                </a:solidFill>
                <a:latin typeface="Tahoma"/>
                <a:cs typeface="Tahoma"/>
              </a:rPr>
              <a:t>If]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800">
              <a:latin typeface="Tahoma"/>
              <a:cs typeface="Tahoma"/>
            </a:endParaRPr>
          </a:p>
          <a:p>
            <a:pPr marL="12700" marR="5963920">
              <a:lnSpc>
                <a:spcPct val="116100"/>
              </a:lnSpc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3.2: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0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wait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95">
                <a:solidFill>
                  <a:srgbClr val="331B0D"/>
                </a:solidFill>
                <a:latin typeface="Tahoma"/>
                <a:cs typeface="Tahoma"/>
              </a:rPr>
              <a:t>wait</a:t>
            </a:r>
            <a:r>
              <a:rPr dirty="0" sz="2800" spc="-10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65">
                <a:solidFill>
                  <a:srgbClr val="331B0D"/>
                </a:solidFill>
                <a:latin typeface="Tahoma"/>
                <a:cs typeface="Tahoma"/>
              </a:rPr>
              <a:t>+</a:t>
            </a:r>
            <a:r>
              <a:rPr dirty="0" sz="2800" spc="-9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85">
                <a:solidFill>
                  <a:srgbClr val="331B0D"/>
                </a:solidFill>
                <a:latin typeface="Tahoma"/>
                <a:cs typeface="Tahoma"/>
              </a:rPr>
              <a:t>1.</a:t>
            </a: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 Step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331B0D"/>
                </a:solidFill>
                <a:latin typeface="Tahoma"/>
                <a:cs typeface="Tahoma"/>
              </a:rPr>
              <a:t>3.3: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200">
                <a:solidFill>
                  <a:srgbClr val="331B0D"/>
                </a:solidFill>
                <a:latin typeface="Tahoma"/>
                <a:cs typeface="Tahoma"/>
              </a:rPr>
              <a:t>Set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65">
                <a:solidFill>
                  <a:srgbClr val="331B0D"/>
                </a:solidFill>
                <a:latin typeface="Tahoma"/>
                <a:cs typeface="Tahoma"/>
              </a:rPr>
              <a:t>temp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635">
                <a:solidFill>
                  <a:srgbClr val="331B0D"/>
                </a:solidFill>
                <a:latin typeface="Tahoma"/>
                <a:cs typeface="Tahoma"/>
              </a:rPr>
              <a:t>=</a:t>
            </a:r>
            <a:r>
              <a:rPr dirty="0" sz="2800" spc="-9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20">
                <a:solidFill>
                  <a:srgbClr val="331B0D"/>
                </a:solidFill>
                <a:latin typeface="Tahoma"/>
                <a:cs typeface="Tahoma"/>
              </a:rPr>
              <a:t>temp-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&gt;next.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974" y="8564873"/>
            <a:ext cx="5492115" cy="10160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800" spc="65">
                <a:solidFill>
                  <a:srgbClr val="331B0D"/>
                </a:solidFill>
                <a:latin typeface="Tahoma"/>
                <a:cs typeface="Tahoma"/>
              </a:rPr>
              <a:t>[End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55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800" spc="-8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14">
                <a:solidFill>
                  <a:srgbClr val="331B0D"/>
                </a:solidFill>
                <a:latin typeface="Tahoma"/>
                <a:cs typeface="Tahoma"/>
              </a:rPr>
              <a:t>Loop]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14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4:</a:t>
            </a:r>
            <a:r>
              <a:rPr dirty="0" sz="2800" spc="-11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35">
                <a:solidFill>
                  <a:srgbClr val="331B0D"/>
                </a:solidFill>
                <a:latin typeface="Tahoma"/>
                <a:cs typeface="Tahoma"/>
              </a:rPr>
              <a:t>Write</a:t>
            </a:r>
            <a:r>
              <a:rPr dirty="0" sz="2800" spc="-11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00">
                <a:solidFill>
                  <a:srgbClr val="331B0D"/>
                </a:solidFill>
                <a:latin typeface="Tahoma"/>
                <a:cs typeface="Tahoma"/>
              </a:rPr>
              <a:t>"Ticket</a:t>
            </a:r>
            <a:r>
              <a:rPr dirty="0" sz="2800" spc="-11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105">
                <a:solidFill>
                  <a:srgbClr val="331B0D"/>
                </a:solidFill>
                <a:latin typeface="Tahoma"/>
                <a:cs typeface="Tahoma"/>
              </a:rPr>
              <a:t>not</a:t>
            </a:r>
            <a:r>
              <a:rPr dirty="0" sz="2800" spc="-11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331B0D"/>
                </a:solidFill>
                <a:latin typeface="Tahoma"/>
                <a:cs typeface="Tahoma"/>
              </a:rPr>
              <a:t>found".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4" y="9624091"/>
            <a:ext cx="2454910" cy="46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04">
                <a:solidFill>
                  <a:srgbClr val="331B0D"/>
                </a:solidFill>
                <a:latin typeface="Tahoma"/>
                <a:cs typeface="Tahoma"/>
              </a:rPr>
              <a:t>Step</a:t>
            </a:r>
            <a:r>
              <a:rPr dirty="0" sz="2800" spc="-1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331B0D"/>
                </a:solidFill>
                <a:latin typeface="Tahoma"/>
                <a:cs typeface="Tahoma"/>
              </a:rPr>
              <a:t>5:</a:t>
            </a:r>
            <a:r>
              <a:rPr dirty="0" sz="2800" spc="-14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800" spc="60">
                <a:solidFill>
                  <a:srgbClr val="331B0D"/>
                </a:solidFill>
                <a:latin typeface="Tahoma"/>
                <a:cs typeface="Tahoma"/>
              </a:rPr>
              <a:t>Return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8614" y="45720"/>
            <a:ext cx="5589384" cy="102412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112508" y="8986551"/>
            <a:ext cx="159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25">
                <a:solidFill>
                  <a:srgbClr val="331B0D"/>
                </a:solidFill>
                <a:latin typeface="Tahoma"/>
                <a:cs typeface="Tahoma"/>
              </a:rPr>
              <a:t>3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1034" y="835800"/>
            <a:ext cx="3525520" cy="6127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/>
              <a:t>Time</a:t>
            </a:r>
            <a:r>
              <a:rPr dirty="0" sz="3850" spc="-490"/>
              <a:t> </a:t>
            </a:r>
            <a:r>
              <a:rPr dirty="0" sz="3850" spc="-10"/>
              <a:t>complexity</a:t>
            </a:r>
            <a:endParaRPr sz="3850"/>
          </a:p>
        </p:txBody>
      </p:sp>
      <p:sp>
        <p:nvSpPr>
          <p:cNvPr id="5" name="object 5"/>
          <p:cNvSpPr txBox="1"/>
          <p:nvPr/>
        </p:nvSpPr>
        <p:spPr>
          <a:xfrm>
            <a:off x="568646" y="1658888"/>
            <a:ext cx="7747634" cy="6184900"/>
          </a:xfrm>
          <a:prstGeom prst="rect">
            <a:avLst/>
          </a:prstGeom>
        </p:spPr>
        <p:txBody>
          <a:bodyPr wrap="square" lIns="0" tIns="18351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445"/>
              </a:spcBef>
            </a:pPr>
            <a:r>
              <a:rPr dirty="0" sz="2400" b="1">
                <a:solidFill>
                  <a:srgbClr val="8B7753"/>
                </a:solidFill>
                <a:latin typeface="Tahoma"/>
                <a:cs typeface="Tahoma"/>
              </a:rPr>
              <a:t>For</a:t>
            </a:r>
            <a:r>
              <a:rPr dirty="0" sz="2400" spc="-90" b="1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8B7753"/>
                </a:solidFill>
                <a:latin typeface="Tahoma"/>
                <a:cs typeface="Tahoma"/>
              </a:rPr>
              <a:t>addticket():</a:t>
            </a:r>
            <a:endParaRPr sz="2400">
              <a:latin typeface="Tahoma"/>
              <a:cs typeface="Tahoma"/>
            </a:endParaRPr>
          </a:p>
          <a:p>
            <a:pPr marL="114935" marR="2246630">
              <a:lnSpc>
                <a:spcPct val="132800"/>
              </a:lnSpc>
              <a:spcBef>
                <a:spcPts val="400"/>
              </a:spcBef>
            </a:pPr>
            <a:r>
              <a:rPr dirty="0" sz="2400" spc="-114">
                <a:solidFill>
                  <a:srgbClr val="331B0D"/>
                </a:solidFill>
                <a:latin typeface="Tahoma"/>
                <a:cs typeface="Tahoma"/>
              </a:rPr>
              <a:t>0(1)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85">
                <a:solidFill>
                  <a:srgbClr val="331B0D"/>
                </a:solidFill>
                <a:latin typeface="Tahoma"/>
                <a:cs typeface="Tahoma"/>
              </a:rPr>
              <a:t>as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it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25">
                <a:solidFill>
                  <a:srgbClr val="331B0D"/>
                </a:solidFill>
                <a:latin typeface="Tahoma"/>
                <a:cs typeface="Tahoma"/>
              </a:rPr>
              <a:t>is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331B0D"/>
                </a:solidFill>
                <a:latin typeface="Tahoma"/>
                <a:cs typeface="Tahoma"/>
              </a:rPr>
              <a:t>a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70">
                <a:solidFill>
                  <a:srgbClr val="331B0D"/>
                </a:solidFill>
                <a:latin typeface="Tahoma"/>
                <a:cs typeface="Tahoma"/>
              </a:rPr>
              <a:t>basic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331B0D"/>
                </a:solidFill>
                <a:latin typeface="Tahoma"/>
                <a:cs typeface="Tahoma"/>
              </a:rPr>
              <a:t>insertion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30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60">
                <a:solidFill>
                  <a:srgbClr val="331B0D"/>
                </a:solidFill>
                <a:latin typeface="Tahoma"/>
                <a:cs typeface="Tahoma"/>
              </a:rPr>
              <a:t>a </a:t>
            </a:r>
            <a:r>
              <a:rPr dirty="0" sz="2400" spc="100">
                <a:solidFill>
                  <a:srgbClr val="331B0D"/>
                </a:solidFill>
                <a:latin typeface="Tahoma"/>
                <a:cs typeface="Tahoma"/>
              </a:rPr>
              <a:t>linked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00">
                <a:solidFill>
                  <a:srgbClr val="331B0D"/>
                </a:solidFill>
                <a:latin typeface="Tahoma"/>
                <a:cs typeface="Tahoma"/>
              </a:rPr>
              <a:t>list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331B0D"/>
                </a:solidFill>
                <a:latin typeface="Tahoma"/>
                <a:cs typeface="Tahoma"/>
              </a:rPr>
              <a:t>which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331B0D"/>
                </a:solidFill>
                <a:latin typeface="Tahoma"/>
                <a:cs typeface="Tahoma"/>
              </a:rPr>
              <a:t>requires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331B0D"/>
                </a:solidFill>
                <a:latin typeface="Tahoma"/>
                <a:cs typeface="Tahoma"/>
              </a:rPr>
              <a:t>only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331B0D"/>
                </a:solidFill>
                <a:latin typeface="Tahoma"/>
                <a:cs typeface="Tahoma"/>
              </a:rPr>
              <a:t>for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331B0D"/>
                </a:solidFill>
                <a:latin typeface="Tahoma"/>
                <a:cs typeface="Tahoma"/>
              </a:rPr>
              <a:t>the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it</a:t>
            </a:r>
            <a:r>
              <a:rPr dirty="0" sz="2400" spc="-3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20">
                <a:solidFill>
                  <a:srgbClr val="331B0D"/>
                </a:solidFill>
                <a:latin typeface="Tahoma"/>
                <a:cs typeface="Tahoma"/>
              </a:rPr>
              <a:t>to</a:t>
            </a:r>
            <a:r>
              <a:rPr dirty="0" sz="2400" spc="-3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run</a:t>
            </a:r>
            <a:r>
              <a:rPr dirty="0" sz="2400" spc="-3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85">
                <a:solidFill>
                  <a:srgbClr val="331B0D"/>
                </a:solidFill>
                <a:latin typeface="Tahoma"/>
                <a:cs typeface="Tahoma"/>
              </a:rPr>
              <a:t>once</a:t>
            </a:r>
            <a:endParaRPr sz="240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2525"/>
              </a:spcBef>
            </a:pPr>
            <a:r>
              <a:rPr dirty="0" sz="2400" b="1">
                <a:solidFill>
                  <a:srgbClr val="8B7753"/>
                </a:solidFill>
                <a:latin typeface="Tahoma"/>
                <a:cs typeface="Tahoma"/>
              </a:rPr>
              <a:t>For</a:t>
            </a:r>
            <a:r>
              <a:rPr dirty="0" sz="2400" spc="-90" b="1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8B7753"/>
                </a:solidFill>
                <a:latin typeface="Tahoma"/>
                <a:cs typeface="Tahoma"/>
              </a:rPr>
              <a:t>process():</a:t>
            </a:r>
            <a:endParaRPr sz="2400">
              <a:latin typeface="Tahoma"/>
              <a:cs typeface="Tahoma"/>
            </a:endParaRPr>
          </a:p>
          <a:p>
            <a:pPr marL="19685" marR="2169795">
              <a:lnSpc>
                <a:spcPct val="132800"/>
              </a:lnSpc>
              <a:spcBef>
                <a:spcPts val="1095"/>
              </a:spcBef>
            </a:pPr>
            <a:r>
              <a:rPr dirty="0" sz="2400" spc="-114">
                <a:solidFill>
                  <a:srgbClr val="331B0D"/>
                </a:solidFill>
                <a:latin typeface="Tahoma"/>
                <a:cs typeface="Tahoma"/>
              </a:rPr>
              <a:t>0(1)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85">
                <a:solidFill>
                  <a:srgbClr val="331B0D"/>
                </a:solidFill>
                <a:latin typeface="Tahoma"/>
                <a:cs typeface="Tahoma"/>
              </a:rPr>
              <a:t>as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it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25">
                <a:solidFill>
                  <a:srgbClr val="331B0D"/>
                </a:solidFill>
                <a:latin typeface="Tahoma"/>
                <a:cs typeface="Tahoma"/>
              </a:rPr>
              <a:t>is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331B0D"/>
                </a:solidFill>
                <a:latin typeface="Tahoma"/>
                <a:cs typeface="Tahoma"/>
              </a:rPr>
              <a:t>a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70">
                <a:solidFill>
                  <a:srgbClr val="331B0D"/>
                </a:solidFill>
                <a:latin typeface="Tahoma"/>
                <a:cs typeface="Tahoma"/>
              </a:rPr>
              <a:t>basic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331B0D"/>
                </a:solidFill>
                <a:latin typeface="Tahoma"/>
                <a:cs typeface="Tahoma"/>
              </a:rPr>
              <a:t>deletion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30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400" spc="-7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331B0D"/>
                </a:solidFill>
                <a:latin typeface="Tahoma"/>
                <a:cs typeface="Tahoma"/>
              </a:rPr>
              <a:t>a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331B0D"/>
                </a:solidFill>
                <a:latin typeface="Tahoma"/>
                <a:cs typeface="Tahoma"/>
              </a:rPr>
              <a:t>linked </a:t>
            </a:r>
            <a:r>
              <a:rPr dirty="0" sz="2400" spc="100">
                <a:solidFill>
                  <a:srgbClr val="331B0D"/>
                </a:solidFill>
                <a:latin typeface="Tahoma"/>
                <a:cs typeface="Tahoma"/>
              </a:rPr>
              <a:t>list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331B0D"/>
                </a:solidFill>
                <a:latin typeface="Tahoma"/>
                <a:cs typeface="Tahoma"/>
              </a:rPr>
              <a:t>which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331B0D"/>
                </a:solidFill>
                <a:latin typeface="Tahoma"/>
                <a:cs typeface="Tahoma"/>
              </a:rPr>
              <a:t>requires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331B0D"/>
                </a:solidFill>
                <a:latin typeface="Tahoma"/>
                <a:cs typeface="Tahoma"/>
              </a:rPr>
              <a:t>only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331B0D"/>
                </a:solidFill>
                <a:latin typeface="Tahoma"/>
                <a:cs typeface="Tahoma"/>
              </a:rPr>
              <a:t>for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331B0D"/>
                </a:solidFill>
                <a:latin typeface="Tahoma"/>
                <a:cs typeface="Tahoma"/>
              </a:rPr>
              <a:t>the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it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331B0D"/>
                </a:solidFill>
                <a:latin typeface="Tahoma"/>
                <a:cs typeface="Tahoma"/>
              </a:rPr>
              <a:t>to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run</a:t>
            </a:r>
            <a:r>
              <a:rPr dirty="0" sz="2400" spc="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85">
                <a:solidFill>
                  <a:srgbClr val="331B0D"/>
                </a:solidFill>
                <a:latin typeface="Tahoma"/>
                <a:cs typeface="Tahoma"/>
              </a:rPr>
              <a:t>once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dirty="0" sz="2400" b="1">
                <a:solidFill>
                  <a:srgbClr val="8B7753"/>
                </a:solidFill>
                <a:latin typeface="Tahoma"/>
                <a:cs typeface="Tahoma"/>
              </a:rPr>
              <a:t>FOR</a:t>
            </a:r>
            <a:r>
              <a:rPr dirty="0" sz="2400" spc="-55" b="1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400" spc="-100" b="1">
                <a:solidFill>
                  <a:srgbClr val="8B7753"/>
                </a:solidFill>
                <a:latin typeface="Tahoma"/>
                <a:cs typeface="Tahoma"/>
              </a:rPr>
              <a:t>DISPLAYQUEUE()</a:t>
            </a:r>
            <a:r>
              <a:rPr dirty="0" sz="2400" spc="-55" b="1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8B7753"/>
                </a:solidFill>
                <a:latin typeface="Tahoma"/>
                <a:cs typeface="Tahoma"/>
              </a:rPr>
              <a:t>AND</a:t>
            </a:r>
            <a:r>
              <a:rPr dirty="0" sz="2400" spc="-55" b="1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dirty="0" sz="2400" spc="-45" b="1">
                <a:solidFill>
                  <a:srgbClr val="8B7753"/>
                </a:solidFill>
                <a:latin typeface="Tahoma"/>
                <a:cs typeface="Tahoma"/>
              </a:rPr>
              <a:t>CHECKTICKETSTATUS():</a:t>
            </a:r>
            <a:endParaRPr sz="2400">
              <a:latin typeface="Tahoma"/>
              <a:cs typeface="Tahoma"/>
            </a:endParaRPr>
          </a:p>
          <a:p>
            <a:pPr marL="12700" marR="2348230">
              <a:lnSpc>
                <a:spcPct val="132800"/>
              </a:lnSpc>
              <a:spcBef>
                <a:spcPts val="1095"/>
              </a:spcBef>
            </a:pPr>
            <a:r>
              <a:rPr dirty="0" sz="2400" spc="-35">
                <a:solidFill>
                  <a:srgbClr val="331B0D"/>
                </a:solidFill>
                <a:latin typeface="Tahoma"/>
                <a:cs typeface="Tahoma"/>
              </a:rPr>
              <a:t>0(n)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85">
                <a:solidFill>
                  <a:srgbClr val="331B0D"/>
                </a:solidFill>
                <a:latin typeface="Tahoma"/>
                <a:cs typeface="Tahoma"/>
              </a:rPr>
              <a:t>as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it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35">
                <a:solidFill>
                  <a:srgbClr val="331B0D"/>
                </a:solidFill>
                <a:latin typeface="Tahoma"/>
                <a:cs typeface="Tahoma"/>
              </a:rPr>
              <a:t>has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20">
                <a:solidFill>
                  <a:srgbClr val="331B0D"/>
                </a:solidFill>
                <a:latin typeface="Tahoma"/>
                <a:cs typeface="Tahoma"/>
              </a:rPr>
              <a:t>to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run</a:t>
            </a:r>
            <a:r>
              <a:rPr dirty="0" sz="2400" spc="-5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n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35">
                <a:solidFill>
                  <a:srgbClr val="331B0D"/>
                </a:solidFill>
                <a:latin typeface="Tahoma"/>
                <a:cs typeface="Tahoma"/>
              </a:rPr>
              <a:t>times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331B0D"/>
                </a:solidFill>
                <a:latin typeface="Tahoma"/>
                <a:cs typeface="Tahoma"/>
              </a:rPr>
              <a:t>for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331B0D"/>
                </a:solidFill>
                <a:latin typeface="Tahoma"/>
                <a:cs typeface="Tahoma"/>
              </a:rPr>
              <a:t>which </a:t>
            </a:r>
            <a:r>
              <a:rPr dirty="0" sz="2400">
                <a:solidFill>
                  <a:srgbClr val="331B0D"/>
                </a:solidFill>
                <a:latin typeface="Tahoma"/>
                <a:cs typeface="Tahoma"/>
              </a:rPr>
              <a:t>n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25">
                <a:solidFill>
                  <a:srgbClr val="331B0D"/>
                </a:solidFill>
                <a:latin typeface="Tahoma"/>
                <a:cs typeface="Tahoma"/>
              </a:rPr>
              <a:t>is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331B0D"/>
                </a:solidFill>
                <a:latin typeface="Tahoma"/>
                <a:cs typeface="Tahoma"/>
              </a:rPr>
              <a:t>the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331B0D"/>
                </a:solidFill>
                <a:latin typeface="Tahoma"/>
                <a:cs typeface="Tahoma"/>
              </a:rPr>
              <a:t>number</a:t>
            </a:r>
            <a:r>
              <a:rPr dirty="0" sz="2400" spc="-65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30">
                <a:solidFill>
                  <a:srgbClr val="331B0D"/>
                </a:solidFill>
                <a:latin typeface="Tahoma"/>
                <a:cs typeface="Tahoma"/>
              </a:rPr>
              <a:t>of</a:t>
            </a:r>
            <a:r>
              <a:rPr dirty="0" sz="2400" spc="-6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dirty="0" sz="2400" spc="120">
                <a:solidFill>
                  <a:srgbClr val="331B0D"/>
                </a:solidFill>
                <a:latin typeface="Tahoma"/>
                <a:cs typeface="Tahoma"/>
              </a:rPr>
              <a:t>tickets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083537" y="8999251"/>
            <a:ext cx="175895" cy="2514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600" spc="-215">
                <a:solidFill>
                  <a:srgbClr val="331B0D"/>
                </a:solidFill>
                <a:latin typeface="Tahoma"/>
                <a:cs typeface="Tahoma"/>
              </a:rPr>
              <a:t>11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5906" y="0"/>
            <a:ext cx="6842093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b="1">
                <a:latin typeface="Tahoma"/>
                <a:cs typeface="Tahoma"/>
              </a:rPr>
              <a:t>Git</a:t>
            </a:r>
            <a:r>
              <a:rPr dirty="0" sz="9200" spc="-434" b="1">
                <a:latin typeface="Tahoma"/>
                <a:cs typeface="Tahoma"/>
              </a:rPr>
              <a:t> </a:t>
            </a:r>
            <a:r>
              <a:rPr dirty="0" sz="9200" spc="-135" b="1">
                <a:latin typeface="Tahoma"/>
                <a:cs typeface="Tahoma"/>
              </a:rPr>
              <a:t>link</a:t>
            </a:r>
            <a:r>
              <a:rPr dirty="0" sz="9200" spc="-440" b="1">
                <a:latin typeface="Tahoma"/>
                <a:cs typeface="Tahoma"/>
              </a:rPr>
              <a:t> </a:t>
            </a:r>
            <a:r>
              <a:rPr dirty="0" sz="9200" b="1">
                <a:latin typeface="Tahoma"/>
                <a:cs typeface="Tahoma"/>
              </a:rPr>
              <a:t>to</a:t>
            </a:r>
            <a:r>
              <a:rPr dirty="0" sz="9200" spc="-434" b="1">
                <a:latin typeface="Tahoma"/>
                <a:cs typeface="Tahoma"/>
              </a:rPr>
              <a:t> </a:t>
            </a:r>
            <a:r>
              <a:rPr dirty="0" sz="9200" b="1">
                <a:latin typeface="Tahoma"/>
                <a:cs typeface="Tahoma"/>
              </a:rPr>
              <a:t>the</a:t>
            </a:r>
            <a:r>
              <a:rPr dirty="0" sz="9200" spc="-434" b="1">
                <a:latin typeface="Tahoma"/>
                <a:cs typeface="Tahoma"/>
              </a:rPr>
              <a:t> </a:t>
            </a:r>
            <a:r>
              <a:rPr dirty="0" sz="9200" spc="335" b="1">
                <a:latin typeface="Tahoma"/>
                <a:cs typeface="Tahoma"/>
              </a:rPr>
              <a:t>code</a:t>
            </a:r>
            <a:endParaRPr sz="9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66761" y="4751419"/>
            <a:ext cx="298069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4600">
                <a:solidFill>
                  <a:srgbClr val="331B0D"/>
                </a:solidFill>
                <a:uFill>
                  <a:solidFill>
                    <a:srgbClr val="331B0D"/>
                  </a:solidFill>
                </a:uFill>
                <a:latin typeface="Arial MT"/>
                <a:cs typeface="Arial MT"/>
                <a:hlinkClick r:id="rId2"/>
              </a:rPr>
              <a:t>Github</a:t>
            </a:r>
            <a:r>
              <a:rPr dirty="0" u="heavy" sz="4600" spc="-110">
                <a:solidFill>
                  <a:srgbClr val="331B0D"/>
                </a:solidFill>
                <a:uFill>
                  <a:solidFill>
                    <a:srgbClr val="331B0D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heavy" sz="4600" spc="-20">
                <a:solidFill>
                  <a:srgbClr val="331B0D"/>
                </a:solidFill>
                <a:uFill>
                  <a:solidFill>
                    <a:srgbClr val="331B0D"/>
                  </a:solidFill>
                </a:uFill>
                <a:latin typeface="Arial MT"/>
                <a:cs typeface="Arial MT"/>
                <a:hlinkClick r:id="rId2"/>
              </a:rPr>
              <a:t>Link</a:t>
            </a:r>
            <a:endParaRPr sz="4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33432" y="3920568"/>
            <a:ext cx="7661275" cy="20129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50" spc="-295"/>
              <a:t>T</a:t>
            </a:r>
            <a:r>
              <a:rPr dirty="0" sz="13050" spc="-330"/>
              <a:t>h</a:t>
            </a:r>
            <a:r>
              <a:rPr dirty="0" sz="13050" spc="-290"/>
              <a:t>a</a:t>
            </a:r>
            <a:r>
              <a:rPr dirty="0" sz="13050" spc="-330"/>
              <a:t>n</a:t>
            </a:r>
            <a:r>
              <a:rPr dirty="0" sz="13050" spc="434"/>
              <a:t>k</a:t>
            </a:r>
            <a:r>
              <a:rPr dirty="0" sz="13050" spc="-1955"/>
              <a:t> </a:t>
            </a:r>
            <a:r>
              <a:rPr dirty="0" sz="13050" spc="100"/>
              <a:t>Y</a:t>
            </a:r>
            <a:r>
              <a:rPr dirty="0" sz="13050" spc="105"/>
              <a:t>o</a:t>
            </a:r>
            <a:r>
              <a:rPr dirty="0" sz="13050" spc="780"/>
              <a:t>u</a:t>
            </a:r>
            <a:endParaRPr sz="13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1B0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Bhavya Shah</dc:creator>
  <cp:keywords>DAHXHNeNw-o,BAFgYExdpCs</cp:keywords>
  <dc:title>White Beige and Brown Simple Minimalist Clean Final Project Presentation</dc:title>
  <dcterms:created xsi:type="dcterms:W3CDTF">2026-10-05T05:41:19Z</dcterms:created>
  <dcterms:modified xsi:type="dcterms:W3CDTF">2026-10-05T05:41:19Z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Canva</vt:lpwstr>
  </property>
  <property fmtid="{D5CDD505-2E9C-101B-9397-08002B2CF9AE}" pid="5" name="LastSaved">
    <vt:filetime>2026-10-05T00:00:00Z</vt:filetime>
  </property>
  <property fmtid="{D5CDD505-2E9C-101B-9397-08002B2CF9AE}" pid="6" name="Producer">
    <vt:lpwstr>Canva</vt:lpwstr>
  </property>
</Properties>
</file>